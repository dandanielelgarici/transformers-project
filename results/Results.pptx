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5"/>
  </p:notesMasterIdLst>
  <p:sldIdLst>
    <p:sldId id="256" r:id="rId2"/>
    <p:sldId id="257" r:id="rId3"/>
    <p:sldId id="259" r:id="rId4"/>
  </p:sldIdLst>
  <p:sldSz cx="12192000" cy="6858000"/>
  <p:notesSz cx="6858000" cy="9144000"/>
  <p:defaultTextStyle>
    <a:defPPr>
      <a:defRPr lang="en-IL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301"/>
    <p:restoredTop sz="94660"/>
  </p:normalViewPr>
  <p:slideViewPr>
    <p:cSldViewPr snapToGrid="0">
      <p:cViewPr varScale="1">
        <p:scale>
          <a:sx n="137" d="100"/>
          <a:sy n="137" d="100"/>
        </p:scale>
        <p:origin x="552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L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729FEDF-8F80-314A-80AC-5650DC4934E9}" type="datetimeFigureOut">
              <a:rPr lang="en-IL" smtClean="0"/>
              <a:t>02/11/2025</a:t>
            </a:fld>
            <a:endParaRPr lang="en-IL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L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L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C51F6C6-5637-9E4C-B229-DC83AEE6C70D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158576100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765375-873E-2250-AA78-BDA0BCB3EA9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L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192D645-DEA5-BBA5-E629-0F20B4C251E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143F080-10D1-B2F1-75CE-9DFB7E1BF5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2CE45B-8799-4C9E-BB3D-36266B12DDC0}" type="datetimeFigureOut">
              <a:rPr lang="en-IL" smtClean="0"/>
              <a:t>02/11/2025</a:t>
            </a:fld>
            <a:endParaRPr lang="en-I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FFE0DA1-1121-94D4-DFE5-24947D7B60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994764E-B4C9-2EB0-DFF0-40C83DE7EA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9593E5-1852-492D-B824-B8F468F0DB05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392416109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FFB26C-8C73-094E-8F63-19AC69283B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L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670ADF2-423C-D460-D5B8-F90C1343C00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1B5845E-4A96-71FC-9070-4C77C0DCE6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2CE45B-8799-4C9E-BB3D-36266B12DDC0}" type="datetimeFigureOut">
              <a:rPr lang="en-IL" smtClean="0"/>
              <a:t>02/11/2025</a:t>
            </a:fld>
            <a:endParaRPr lang="en-I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10DECEE-2314-2DD6-7683-6BD4E75213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E0C7A95-AF2C-12C8-BA29-BEE5AABCFB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9593E5-1852-492D-B824-B8F468F0DB05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258389371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C2F7DE-940B-F791-68B3-BE03C4E4BD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L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14FF4D5-DB92-55C3-6CEB-B67B99EF12B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928261A-6A64-5B8D-60C6-3953501144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2CE45B-8799-4C9E-BB3D-36266B12DDC0}" type="datetimeFigureOut">
              <a:rPr lang="en-IL" smtClean="0"/>
              <a:t>02/11/2025</a:t>
            </a:fld>
            <a:endParaRPr lang="en-I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67FEF39-33D0-3D6D-D514-3D07CC3D07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0391965-982B-BBFC-994E-082D6F9F11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9593E5-1852-492D-B824-B8F468F0DB05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315493356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14D4F0-E299-7AD6-30B1-90056F584A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L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C60113A-7FF5-A576-A6F7-71E0FED3356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L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95C5DD1-7A8B-83F9-B454-6D9EC163F67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L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C297548-9230-1DC0-45DD-F57877DEAE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2CE45B-8799-4C9E-BB3D-36266B12DDC0}" type="datetimeFigureOut">
              <a:rPr lang="en-IL" smtClean="0"/>
              <a:t>02/11/2025</a:t>
            </a:fld>
            <a:endParaRPr lang="en-IL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F930039-BEF0-FF6B-DC1B-526DDD4C5F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4B612B6-B621-CE0B-9E42-1D35A54108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9593E5-1852-492D-B824-B8F468F0DB05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1235599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A7F49B-BA79-49E6-7C48-0F7F127E26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L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A1C1A9C-D4EA-D95B-FCC7-815048CA0CB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C76FF83-F587-2D06-0170-814721F1ABE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L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BD73E13-47AA-4A39-B113-DEA971D43DC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014AE53-C9BC-73A4-9F4B-EC703E40801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L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E09F09A-82DF-C847-73B5-75F9FCBD9A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2CE45B-8799-4C9E-BB3D-36266B12DDC0}" type="datetimeFigureOut">
              <a:rPr lang="en-IL" smtClean="0"/>
              <a:t>02/11/2025</a:t>
            </a:fld>
            <a:endParaRPr lang="en-IL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62D6A1C-3773-8DE6-22A4-75FE8EC0A0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6862527-1AE2-72AE-6A3D-B7A458BA65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9593E5-1852-492D-B824-B8F468F0DB05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62334082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7F492E-FBC8-5BA9-2C8A-3E98A4683E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L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557238D-829E-0B02-ADCC-B292897081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2CE45B-8799-4C9E-BB3D-36266B12DDC0}" type="datetimeFigureOut">
              <a:rPr lang="en-IL" smtClean="0"/>
              <a:t>02/11/2025</a:t>
            </a:fld>
            <a:endParaRPr lang="en-IL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B732325-FCD7-091F-B669-831D113A05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58C2909-9037-3532-EACF-B85D158DAE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9593E5-1852-492D-B824-B8F468F0DB05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50831645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51C3473-EAEB-439D-E1E1-9443106527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2CE45B-8799-4C9E-BB3D-36266B12DDC0}" type="datetimeFigureOut">
              <a:rPr lang="en-IL" smtClean="0"/>
              <a:t>02/11/2025</a:t>
            </a:fld>
            <a:endParaRPr lang="en-IL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8565F27-B93D-479E-96E4-FC94173A98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8E63B0C-D5BA-B9F7-5C2D-10592D9C88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9593E5-1852-492D-B824-B8F468F0DB05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343531880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CF13AD-940F-90E2-4A87-973493ACE6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L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5D6E686-521D-6B0A-87C7-7252A4196ED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L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EC9E7A2-1403-E028-00F7-5D5422A9652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0C9C30F-320F-1AA5-1930-760B76F45C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2CE45B-8799-4C9E-BB3D-36266B12DDC0}" type="datetimeFigureOut">
              <a:rPr lang="en-IL" smtClean="0"/>
              <a:t>02/11/2025</a:t>
            </a:fld>
            <a:endParaRPr lang="en-IL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5172CF6-EF7D-D1C4-B673-7F18F14BCD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8D4392A-A6C1-2DC1-4397-629B4D5A09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9593E5-1852-492D-B824-B8F468F0DB05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293950692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23BC59-F2D9-A14F-0841-4645CFE970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L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73F7AB4-68CE-A7D6-413C-2DF4024B0AC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L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8DF9BF8-E9AC-0BD0-D6C2-64E7DC194CB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76EA815-F31C-06AB-AA72-BF363FE080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2CE45B-8799-4C9E-BB3D-36266B12DDC0}" type="datetimeFigureOut">
              <a:rPr lang="en-IL" smtClean="0"/>
              <a:t>02/11/2025</a:t>
            </a:fld>
            <a:endParaRPr lang="en-IL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4DE26A0-8E53-58F6-83F5-632C4E0267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0B53C2A-27A8-B12B-9344-252C3556CD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9593E5-1852-492D-B824-B8F468F0DB05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11137007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5B8DE5-095A-4681-9C5B-E45D97664B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L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5A6AA8D-0F3A-6F3A-13E4-8ED90281826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693AFED-1016-58D0-A112-FBB71AC931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2CE45B-8799-4C9E-BB3D-36266B12DDC0}" type="datetimeFigureOut">
              <a:rPr lang="en-IL" smtClean="0"/>
              <a:t>02/11/2025</a:t>
            </a:fld>
            <a:endParaRPr lang="en-I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FB715AB-45D6-F90E-1BA1-DBE07CC4A5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31264ED-D9B0-61BB-6029-364470F1AC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9593E5-1852-492D-B824-B8F468F0DB05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14094588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3A6A73F-E64E-BA73-478E-AAC4E0286F5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L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49206EE-73CC-47BA-5CC2-CE19AE6B379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8A0515F-0F6B-1349-990E-71BD7437F0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2CE45B-8799-4C9E-BB3D-36266B12DDC0}" type="datetimeFigureOut">
              <a:rPr lang="en-IL" smtClean="0"/>
              <a:t>02/11/2025</a:t>
            </a:fld>
            <a:endParaRPr lang="en-I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AA058C4-3970-CF70-BE43-0AD670213A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825AC7D-799E-65C4-2AB6-6BB87D51A2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9593E5-1852-492D-B824-B8F468F0DB05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105758983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E40ED26-3EEE-5EDB-AF44-2C11086B6D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L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8502C1B-391C-E698-F431-966197E6BA0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338D34D-32B1-CF8A-DE68-43190A5A043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B2CE45B-8799-4C9E-BB3D-36266B12DDC0}" type="datetimeFigureOut">
              <a:rPr lang="en-IL" smtClean="0"/>
              <a:t>02/11/2025</a:t>
            </a:fld>
            <a:endParaRPr lang="en-I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419072D-BB4A-0525-4F7F-02134F9C39C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04D7F63-9525-621A-4F4F-14696975D32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19593E5-1852-492D-B824-B8F468F0DB05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301683588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IL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4" name="Table 3">
                <a:extLst>
                  <a:ext uri="{FF2B5EF4-FFF2-40B4-BE49-F238E27FC236}">
                    <a16:creationId xmlns:a16="http://schemas.microsoft.com/office/drawing/2014/main" id="{8D34FCA1-E3EF-DB90-8492-88EF340F6EA4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508090384"/>
                  </p:ext>
                </p:extLst>
              </p:nvPr>
            </p:nvGraphicFramePr>
            <p:xfrm>
              <a:off x="0" y="170121"/>
              <a:ext cx="12191998" cy="4077025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741714">
                      <a:extLst>
                        <a:ext uri="{9D8B030D-6E8A-4147-A177-3AD203B41FA5}">
                          <a16:colId xmlns:a16="http://schemas.microsoft.com/office/drawing/2014/main" val="3095592704"/>
                        </a:ext>
                      </a:extLst>
                    </a:gridCol>
                    <a:gridCol w="1741714">
                      <a:extLst>
                        <a:ext uri="{9D8B030D-6E8A-4147-A177-3AD203B41FA5}">
                          <a16:colId xmlns:a16="http://schemas.microsoft.com/office/drawing/2014/main" val="732741407"/>
                        </a:ext>
                      </a:extLst>
                    </a:gridCol>
                    <a:gridCol w="1741714">
                      <a:extLst>
                        <a:ext uri="{9D8B030D-6E8A-4147-A177-3AD203B41FA5}">
                          <a16:colId xmlns:a16="http://schemas.microsoft.com/office/drawing/2014/main" val="337792108"/>
                        </a:ext>
                      </a:extLst>
                    </a:gridCol>
                    <a:gridCol w="1741714">
                      <a:extLst>
                        <a:ext uri="{9D8B030D-6E8A-4147-A177-3AD203B41FA5}">
                          <a16:colId xmlns:a16="http://schemas.microsoft.com/office/drawing/2014/main" val="2200391211"/>
                        </a:ext>
                      </a:extLst>
                    </a:gridCol>
                    <a:gridCol w="1741714">
                      <a:extLst>
                        <a:ext uri="{9D8B030D-6E8A-4147-A177-3AD203B41FA5}">
                          <a16:colId xmlns:a16="http://schemas.microsoft.com/office/drawing/2014/main" val="2095260363"/>
                        </a:ext>
                      </a:extLst>
                    </a:gridCol>
                    <a:gridCol w="1741714">
                      <a:extLst>
                        <a:ext uri="{9D8B030D-6E8A-4147-A177-3AD203B41FA5}">
                          <a16:colId xmlns:a16="http://schemas.microsoft.com/office/drawing/2014/main" val="2425648250"/>
                        </a:ext>
                      </a:extLst>
                    </a:gridCol>
                    <a:gridCol w="1741714">
                      <a:extLst>
                        <a:ext uri="{9D8B030D-6E8A-4147-A177-3AD203B41FA5}">
                          <a16:colId xmlns:a16="http://schemas.microsoft.com/office/drawing/2014/main" val="3253171664"/>
                        </a:ext>
                      </a:extLst>
                    </a:gridCol>
                  </a:tblGrid>
                  <a:tr h="1592695">
                    <a:tc>
                      <a:txBody>
                        <a:bodyPr/>
                        <a:lstStyle/>
                        <a:p>
                          <a:endParaRPr lang="en-IL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sz="1600" dirty="0"/>
                            <a:t>R Precision (top 1) </a:t>
                          </a:r>
                          <a14:m>
                            <m:oMath xmlns:m="http://schemas.openxmlformats.org/officeDocument/2006/math">
                              <m:r>
                                <a:rPr lang="en-US" sz="160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↑</m:t>
                              </m:r>
                            </m:oMath>
                          </a14:m>
                          <a:endParaRPr lang="en-IL" sz="16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sz="1600" dirty="0"/>
                            <a:t>R Precision (top 2) </a:t>
                          </a:r>
                          <a14:m>
                            <m:oMath xmlns:m="http://schemas.openxmlformats.org/officeDocument/2006/math">
                              <m:r>
                                <a:rPr lang="en-US" sz="160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↑</m:t>
                              </m:r>
                            </m:oMath>
                          </a14:m>
                          <a:endParaRPr lang="en-IL" sz="16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600" dirty="0"/>
                            <a:t>R Precision (top 3) </a:t>
                          </a:r>
                          <a14:m>
                            <m:oMath xmlns:m="http://schemas.openxmlformats.org/officeDocument/2006/math">
                              <m:r>
                                <a:rPr lang="en-US" sz="160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↑</m:t>
                              </m:r>
                            </m:oMath>
                          </a14:m>
                          <a:endParaRPr lang="en-IL" sz="16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600" dirty="0"/>
                            <a:t>FID </a:t>
                          </a:r>
                          <a14:m>
                            <m:oMath xmlns:m="http://schemas.openxmlformats.org/officeDocument/2006/math">
                              <m:r>
                                <a:rPr lang="en-US" sz="160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↓</m:t>
                              </m:r>
                            </m:oMath>
                          </a14:m>
                          <a:endParaRPr lang="en-IL" sz="16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600" dirty="0"/>
                            <a:t>Diversity </a:t>
                          </a:r>
                          <a14:m>
                            <m:oMath xmlns:m="http://schemas.openxmlformats.org/officeDocument/2006/math">
                              <m:r>
                                <a:rPr lang="en-US" sz="1600" b="1" i="1" smtClean="0">
                                  <a:latin typeface="Cambria Math" panose="02040503050406030204" pitchFamily="18" charset="0"/>
                                </a:rPr>
                                <m:t>→</m:t>
                              </m:r>
                            </m:oMath>
                          </a14:m>
                          <a:endParaRPr lang="en-IL" sz="16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600" dirty="0"/>
                            <a:t>Multimodality </a:t>
                          </a:r>
                          <a14:m>
                            <m:oMath xmlns:m="http://schemas.openxmlformats.org/officeDocument/2006/math">
                              <m:r>
                                <a:rPr lang="en-US" sz="1600" b="1" i="1" smtClean="0">
                                  <a:latin typeface="Cambria Math" panose="02040503050406030204" pitchFamily="18" charset="0"/>
                                </a:rPr>
                                <m:t>↑</m:t>
                              </m:r>
                            </m:oMath>
                          </a14:m>
                          <a:endParaRPr lang="en-IL" sz="1600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872491175"/>
                      </a:ext>
                    </a:extLst>
                  </a:tr>
                  <a:tr h="496866"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Real</a:t>
                          </a:r>
                          <a:endParaRPr lang="en-IL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600" b="0" i="1" smtClean="0">
                                    <a:latin typeface="Cambria Math" panose="02040503050406030204" pitchFamily="18" charset="0"/>
                                  </a:rPr>
                                  <m:t>0.4541±0.0060</m:t>
                                </m:r>
                              </m:oMath>
                            </m:oMathPara>
                          </a14:m>
                          <a:endParaRPr lang="en-IL" sz="16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600" b="0" i="1" smtClean="0">
                                    <a:latin typeface="Cambria Math" panose="02040503050406030204" pitchFamily="18" charset="0"/>
                                  </a:rPr>
                                  <m:t>0.6612±0.0065</m:t>
                                </m:r>
                              </m:oMath>
                            </m:oMathPara>
                          </a14:m>
                          <a:endParaRPr lang="en-IL" sz="16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600" b="0" i="1" smtClean="0">
                                    <a:latin typeface="Cambria Math" panose="02040503050406030204" pitchFamily="18" charset="0"/>
                                  </a:rPr>
                                  <m:t>0.7704±0.0054</m:t>
                                </m:r>
                              </m:oMath>
                            </m:oMathPara>
                          </a14:m>
                          <a:endParaRPr lang="en-IL" sz="16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600" b="0" i="1" smtClean="0">
                                    <a:latin typeface="Cambria Math" panose="02040503050406030204" pitchFamily="18" charset="0"/>
                                  </a:rPr>
                                  <m:t>0.0010±0.0001</m:t>
                                </m:r>
                              </m:oMath>
                            </m:oMathPara>
                          </a14:m>
                          <a:endParaRPr lang="en-IL" sz="16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600" b="0" i="1" smtClean="0">
                                    <a:latin typeface="Cambria Math" panose="02040503050406030204" pitchFamily="18" charset="0"/>
                                  </a:rPr>
                                  <m:t>9.1322±0.0943</m:t>
                                </m:r>
                              </m:oMath>
                            </m:oMathPara>
                          </a14:m>
                          <a:endParaRPr lang="en-IL" sz="16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600" b="0" i="1" smtClean="0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</m:oMath>
                            </m:oMathPara>
                          </a14:m>
                          <a:endParaRPr lang="en-IL" sz="1600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463540001"/>
                      </a:ext>
                    </a:extLst>
                  </a:tr>
                  <a:tr h="496866"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MDM-Original</a:t>
                          </a:r>
                          <a:endParaRPr lang="en-IL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600" b="0" i="1" smtClean="0">
                                    <a:latin typeface="Cambria Math" panose="02040503050406030204" pitchFamily="18" charset="0"/>
                                  </a:rPr>
                                  <m:t>0.3883±0.0158</m:t>
                                </m:r>
                              </m:oMath>
                            </m:oMathPara>
                          </a14:m>
                          <a:endParaRPr lang="en-IL" sz="16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600" b="0" i="1" smtClean="0">
                                    <a:latin typeface="Cambria Math" panose="02040503050406030204" pitchFamily="18" charset="0"/>
                                  </a:rPr>
                                  <m:t>0.5828±0.0091</m:t>
                                </m:r>
                              </m:oMath>
                            </m:oMathPara>
                          </a14:m>
                          <a:endParaRPr lang="en-IL" sz="16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600" b="0" i="1" smtClean="0">
                                    <a:latin typeface="Cambria Math" panose="02040503050406030204" pitchFamily="18" charset="0"/>
                                  </a:rPr>
                                  <m:t>0.6945±0.0026</m:t>
                                </m:r>
                              </m:oMath>
                            </m:oMathPara>
                          </a14:m>
                          <a:endParaRPr lang="en-IL" sz="16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600" b="0" i="1" smtClean="0">
                                    <a:latin typeface="Cambria Math" panose="02040503050406030204" pitchFamily="18" charset="0"/>
                                  </a:rPr>
                                  <m:t>0.5243±0.1885</m:t>
                                </m:r>
                              </m:oMath>
                            </m:oMathPara>
                          </a14:m>
                          <a:endParaRPr lang="en-IL" sz="16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600" b="0" i="1" smtClean="0">
                                    <a:latin typeface="Cambria Math" panose="02040503050406030204" pitchFamily="18" charset="0"/>
                                  </a:rPr>
                                  <m:t>9.3325±0.0594</m:t>
                                </m:r>
                              </m:oMath>
                            </m:oMathPara>
                          </a14:m>
                          <a:endParaRPr lang="en-IL" sz="16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600" b="0" i="1" smtClean="0">
                                    <a:latin typeface="Cambria Math" panose="02040503050406030204" pitchFamily="18" charset="0"/>
                                  </a:rPr>
                                  <m:t>2.6270±0.0539</m:t>
                                </m:r>
                              </m:oMath>
                            </m:oMathPara>
                          </a14:m>
                          <a:endParaRPr lang="en-IL" sz="1600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283256994"/>
                      </a:ext>
                    </a:extLst>
                  </a:tr>
                  <a:tr h="496866">
                    <a:tc>
                      <a:txBody>
                        <a:bodyPr/>
                        <a:lstStyle/>
                        <a:p>
                          <a:r>
                            <a:rPr lang="en-IL" dirty="0"/>
                            <a:t>MDM-</a:t>
                          </a:r>
                          <a:r>
                            <a:rPr lang="en-GB" dirty="0"/>
                            <a:t>1</a:t>
                          </a:r>
                          <a:endParaRPr lang="en-IL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sz="1500" b="1" i="1" smtClean="0">
                                    <a:solidFill>
                                      <a:srgbClr val="00B050"/>
                                    </a:solidFill>
                                    <a:latin typeface="Cambria Math" panose="02040503050406030204" pitchFamily="18" charset="0"/>
                                  </a:rPr>
                                  <m:t>𝟎</m:t>
                                </m:r>
                                <m:r>
                                  <a:rPr lang="en-GB" sz="1500" b="1" i="1" smtClean="0">
                                    <a:solidFill>
                                      <a:srgbClr val="00B050"/>
                                    </a:solidFill>
                                    <a:latin typeface="Cambria Math" panose="02040503050406030204" pitchFamily="18" charset="0"/>
                                  </a:rPr>
                                  <m:t>.</m:t>
                                </m:r>
                                <m:r>
                                  <a:rPr lang="en-GB" sz="1500" b="1" i="1" smtClean="0">
                                    <a:solidFill>
                                      <a:srgbClr val="00B050"/>
                                    </a:solidFill>
                                    <a:latin typeface="Cambria Math" panose="02040503050406030204" pitchFamily="18" charset="0"/>
                                  </a:rPr>
                                  <m:t>𝟒𝟒𝟗𝟓</m:t>
                                </m:r>
                                <m:r>
                                  <a:rPr lang="en-GB" sz="1500" b="1" i="1" smtClean="0">
                                    <a:solidFill>
                                      <a:srgbClr val="00B050"/>
                                    </a:solidFill>
                                    <a:latin typeface="Cambria Math" panose="02040503050406030204" pitchFamily="18" charset="0"/>
                                  </a:rPr>
                                  <m:t>±</m:t>
                                </m:r>
                                <m:r>
                                  <a:rPr lang="en-GB" sz="1500" b="1" i="1" smtClean="0">
                                    <a:solidFill>
                                      <a:srgbClr val="00B050"/>
                                    </a:solidFill>
                                    <a:latin typeface="Cambria Math" panose="02040503050406030204" pitchFamily="18" charset="0"/>
                                  </a:rPr>
                                  <m:t>𝟎</m:t>
                                </m:r>
                                <m:r>
                                  <a:rPr lang="en-GB" sz="1500" b="1" i="1" smtClean="0">
                                    <a:solidFill>
                                      <a:srgbClr val="00B050"/>
                                    </a:solidFill>
                                    <a:latin typeface="Cambria Math" panose="02040503050406030204" pitchFamily="18" charset="0"/>
                                  </a:rPr>
                                  <m:t>.</m:t>
                                </m:r>
                                <m:r>
                                  <a:rPr lang="en-GB" sz="1500" b="1" i="1" smtClean="0">
                                    <a:solidFill>
                                      <a:srgbClr val="00B050"/>
                                    </a:solidFill>
                                    <a:latin typeface="Cambria Math" panose="02040503050406030204" pitchFamily="18" charset="0"/>
                                  </a:rPr>
                                  <m:t>𝟎𝟎𝟑𝟓</m:t>
                                </m:r>
                              </m:oMath>
                            </m:oMathPara>
                          </a14:m>
                          <a:endParaRPr lang="en-IL" sz="1500" b="1" dirty="0">
                            <a:solidFill>
                              <a:srgbClr val="00B050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sz="1500" b="1" i="1" smtClean="0">
                                    <a:solidFill>
                                      <a:srgbClr val="00B050"/>
                                    </a:solidFill>
                                    <a:latin typeface="Cambria Math" panose="02040503050406030204" pitchFamily="18" charset="0"/>
                                  </a:rPr>
                                  <m:t>𝟎</m:t>
                                </m:r>
                                <m:r>
                                  <a:rPr lang="en-GB" sz="1500" b="1" i="1" smtClean="0">
                                    <a:solidFill>
                                      <a:srgbClr val="00B050"/>
                                    </a:solidFill>
                                    <a:latin typeface="Cambria Math" panose="02040503050406030204" pitchFamily="18" charset="0"/>
                                  </a:rPr>
                                  <m:t>.</m:t>
                                </m:r>
                                <m:r>
                                  <a:rPr lang="en-GB" sz="1500" b="1" i="1" smtClean="0">
                                    <a:solidFill>
                                      <a:srgbClr val="00B050"/>
                                    </a:solidFill>
                                    <a:latin typeface="Cambria Math" panose="02040503050406030204" pitchFamily="18" charset="0"/>
                                  </a:rPr>
                                  <m:t>𝟔𝟓𝟕𝟔</m:t>
                                </m:r>
                                <m:r>
                                  <a:rPr lang="en-GB" sz="1500" b="1" i="1" smtClean="0">
                                    <a:solidFill>
                                      <a:srgbClr val="00B050"/>
                                    </a:solidFill>
                                    <a:latin typeface="Cambria Math" panose="02040503050406030204" pitchFamily="18" charset="0"/>
                                  </a:rPr>
                                  <m:t>±</m:t>
                                </m:r>
                                <m:r>
                                  <a:rPr lang="en-GB" sz="1500" b="1" i="1" smtClean="0">
                                    <a:solidFill>
                                      <a:srgbClr val="00B050"/>
                                    </a:solidFill>
                                    <a:latin typeface="Cambria Math" panose="02040503050406030204" pitchFamily="18" charset="0"/>
                                  </a:rPr>
                                  <m:t>𝟎</m:t>
                                </m:r>
                                <m:r>
                                  <a:rPr lang="en-GB" sz="1500" b="1" i="1" smtClean="0">
                                    <a:solidFill>
                                      <a:srgbClr val="00B050"/>
                                    </a:solidFill>
                                    <a:latin typeface="Cambria Math" panose="02040503050406030204" pitchFamily="18" charset="0"/>
                                  </a:rPr>
                                  <m:t>.</m:t>
                                </m:r>
                                <m:r>
                                  <a:rPr lang="en-GB" sz="1500" b="1" i="1" smtClean="0">
                                    <a:solidFill>
                                      <a:srgbClr val="00B050"/>
                                    </a:solidFill>
                                    <a:latin typeface="Cambria Math" panose="02040503050406030204" pitchFamily="18" charset="0"/>
                                  </a:rPr>
                                  <m:t>𝟎𝟎𝟔𝟎</m:t>
                                </m:r>
                              </m:oMath>
                            </m:oMathPara>
                          </a14:m>
                          <a:endParaRPr lang="en-IL" sz="1500" b="1" dirty="0">
                            <a:solidFill>
                              <a:srgbClr val="00B050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sz="1500" b="1" i="1" smtClean="0">
                                    <a:solidFill>
                                      <a:srgbClr val="00B050"/>
                                    </a:solidFill>
                                    <a:latin typeface="Cambria Math" panose="02040503050406030204" pitchFamily="18" charset="0"/>
                                  </a:rPr>
                                  <m:t>𝟎</m:t>
                                </m:r>
                                <m:r>
                                  <a:rPr lang="en-GB" sz="1500" b="1" i="1" smtClean="0">
                                    <a:solidFill>
                                      <a:srgbClr val="00B050"/>
                                    </a:solidFill>
                                    <a:latin typeface="Cambria Math" panose="02040503050406030204" pitchFamily="18" charset="0"/>
                                  </a:rPr>
                                  <m:t>.</m:t>
                                </m:r>
                                <m:r>
                                  <a:rPr lang="en-GB" sz="1500" b="1" i="1" smtClean="0">
                                    <a:solidFill>
                                      <a:srgbClr val="00B050"/>
                                    </a:solidFill>
                                    <a:latin typeface="Cambria Math" panose="02040503050406030204" pitchFamily="18" charset="0"/>
                                  </a:rPr>
                                  <m:t>𝟕𝟔𝟖𝟏</m:t>
                                </m:r>
                                <m:r>
                                  <a:rPr lang="en-GB" sz="1500" b="1" i="1" smtClean="0">
                                    <a:solidFill>
                                      <a:srgbClr val="00B050"/>
                                    </a:solidFill>
                                    <a:latin typeface="Cambria Math" panose="02040503050406030204" pitchFamily="18" charset="0"/>
                                  </a:rPr>
                                  <m:t>±</m:t>
                                </m:r>
                                <m:r>
                                  <a:rPr lang="en-GB" sz="1500" b="1" i="1" smtClean="0">
                                    <a:solidFill>
                                      <a:srgbClr val="00B050"/>
                                    </a:solidFill>
                                    <a:latin typeface="Cambria Math" panose="02040503050406030204" pitchFamily="18" charset="0"/>
                                  </a:rPr>
                                  <m:t>𝟎</m:t>
                                </m:r>
                                <m:r>
                                  <a:rPr lang="en-GB" sz="1500" b="1" i="1" smtClean="0">
                                    <a:solidFill>
                                      <a:srgbClr val="00B050"/>
                                    </a:solidFill>
                                    <a:latin typeface="Cambria Math" panose="02040503050406030204" pitchFamily="18" charset="0"/>
                                  </a:rPr>
                                  <m:t>.</m:t>
                                </m:r>
                                <m:r>
                                  <a:rPr lang="en-GB" sz="1500" b="1" i="1" smtClean="0">
                                    <a:solidFill>
                                      <a:srgbClr val="00B050"/>
                                    </a:solidFill>
                                    <a:latin typeface="Cambria Math" panose="02040503050406030204" pitchFamily="18" charset="0"/>
                                  </a:rPr>
                                  <m:t>𝟎𝟎𝟓𝟑</m:t>
                                </m:r>
                              </m:oMath>
                            </m:oMathPara>
                          </a14:m>
                          <a:endParaRPr lang="en-IL" sz="1500" b="1" dirty="0">
                            <a:solidFill>
                              <a:srgbClr val="00B050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sz="1500" b="1" i="1" smtClean="0">
                                    <a:solidFill>
                                      <a:srgbClr val="00B050"/>
                                    </a:solidFill>
                                    <a:latin typeface="Cambria Math" panose="02040503050406030204" pitchFamily="18" charset="0"/>
                                  </a:rPr>
                                  <m:t>𝟎</m:t>
                                </m:r>
                                <m:r>
                                  <a:rPr lang="en-GB" sz="1500" b="1" i="1" smtClean="0">
                                    <a:solidFill>
                                      <a:srgbClr val="00B050"/>
                                    </a:solidFill>
                                    <a:latin typeface="Cambria Math" panose="02040503050406030204" pitchFamily="18" charset="0"/>
                                  </a:rPr>
                                  <m:t>.</m:t>
                                </m:r>
                                <m:r>
                                  <a:rPr lang="en-GB" sz="1500" b="1" i="1" smtClean="0">
                                    <a:solidFill>
                                      <a:srgbClr val="00B050"/>
                                    </a:solidFill>
                                    <a:latin typeface="Cambria Math" panose="02040503050406030204" pitchFamily="18" charset="0"/>
                                  </a:rPr>
                                  <m:t>𝟔𝟒𝟔𝟔</m:t>
                                </m:r>
                                <m:r>
                                  <a:rPr lang="en-GB" sz="1500" b="1" i="1" smtClean="0">
                                    <a:solidFill>
                                      <a:srgbClr val="00B050"/>
                                    </a:solidFill>
                                    <a:latin typeface="Cambria Math" panose="02040503050406030204" pitchFamily="18" charset="0"/>
                                  </a:rPr>
                                  <m:t>±</m:t>
                                </m:r>
                                <m:r>
                                  <a:rPr lang="en-GB" sz="1500" b="1" i="1" smtClean="0">
                                    <a:solidFill>
                                      <a:srgbClr val="00B050"/>
                                    </a:solidFill>
                                    <a:latin typeface="Cambria Math" panose="02040503050406030204" pitchFamily="18" charset="0"/>
                                  </a:rPr>
                                  <m:t>𝟎</m:t>
                                </m:r>
                                <m:r>
                                  <a:rPr lang="en-GB" sz="1500" b="1" i="1" smtClean="0">
                                    <a:solidFill>
                                      <a:srgbClr val="00B050"/>
                                    </a:solidFill>
                                    <a:latin typeface="Cambria Math" panose="02040503050406030204" pitchFamily="18" charset="0"/>
                                  </a:rPr>
                                  <m:t>.</m:t>
                                </m:r>
                                <m:r>
                                  <a:rPr lang="en-GB" sz="1500" b="1" i="1" smtClean="0">
                                    <a:solidFill>
                                      <a:srgbClr val="00B050"/>
                                    </a:solidFill>
                                    <a:latin typeface="Cambria Math" panose="02040503050406030204" pitchFamily="18" charset="0"/>
                                  </a:rPr>
                                  <m:t>𝟎𝟕𝟕𝟒</m:t>
                                </m:r>
                              </m:oMath>
                            </m:oMathPara>
                          </a14:m>
                          <a:endParaRPr lang="en-IL" sz="1500" b="1" dirty="0">
                            <a:solidFill>
                              <a:srgbClr val="00B050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sz="1500" b="1" i="1" smtClean="0">
                                    <a:solidFill>
                                      <a:srgbClr val="00B050"/>
                                    </a:solidFill>
                                    <a:latin typeface="Cambria Math" panose="02040503050406030204" pitchFamily="18" charset="0"/>
                                  </a:rPr>
                                  <m:t>𝟗</m:t>
                                </m:r>
                                <m:r>
                                  <a:rPr lang="en-GB" sz="1500" b="1" i="1" smtClean="0">
                                    <a:solidFill>
                                      <a:srgbClr val="00B050"/>
                                    </a:solidFill>
                                    <a:latin typeface="Cambria Math" panose="02040503050406030204" pitchFamily="18" charset="0"/>
                                  </a:rPr>
                                  <m:t>.</m:t>
                                </m:r>
                                <m:r>
                                  <a:rPr lang="en-GB" sz="1500" b="1" i="1" smtClean="0">
                                    <a:solidFill>
                                      <a:srgbClr val="00B050"/>
                                    </a:solidFill>
                                    <a:latin typeface="Cambria Math" panose="02040503050406030204" pitchFamily="18" charset="0"/>
                                  </a:rPr>
                                  <m:t>𝟕𝟏𝟎𝟒</m:t>
                                </m:r>
                                <m:r>
                                  <a:rPr lang="en-GB" sz="1500" b="1" i="1" smtClean="0">
                                    <a:solidFill>
                                      <a:srgbClr val="00B050"/>
                                    </a:solidFill>
                                    <a:latin typeface="Cambria Math" panose="02040503050406030204" pitchFamily="18" charset="0"/>
                                  </a:rPr>
                                  <m:t>±</m:t>
                                </m:r>
                                <m:r>
                                  <a:rPr lang="en-GB" sz="1500" b="1" i="1" smtClean="0">
                                    <a:solidFill>
                                      <a:srgbClr val="00B050"/>
                                    </a:solidFill>
                                    <a:latin typeface="Cambria Math" panose="02040503050406030204" pitchFamily="18" charset="0"/>
                                  </a:rPr>
                                  <m:t>𝟎</m:t>
                                </m:r>
                                <m:r>
                                  <a:rPr lang="en-GB" sz="1500" b="1" i="1" smtClean="0">
                                    <a:solidFill>
                                      <a:srgbClr val="00B050"/>
                                    </a:solidFill>
                                    <a:latin typeface="Cambria Math" panose="02040503050406030204" pitchFamily="18" charset="0"/>
                                  </a:rPr>
                                  <m:t>.</m:t>
                                </m:r>
                                <m:r>
                                  <a:rPr lang="en-GB" sz="1500" b="1" i="1" smtClean="0">
                                    <a:solidFill>
                                      <a:srgbClr val="00B050"/>
                                    </a:solidFill>
                                    <a:latin typeface="Cambria Math" panose="02040503050406030204" pitchFamily="18" charset="0"/>
                                  </a:rPr>
                                  <m:t>𝟏𝟔𝟗𝟔</m:t>
                                </m:r>
                              </m:oMath>
                            </m:oMathPara>
                          </a14:m>
                          <a:endParaRPr lang="en-IL" sz="1500" b="1" dirty="0">
                            <a:solidFill>
                              <a:srgbClr val="00B050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sz="1600" b="0" i="1" smtClean="0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  <m:t>2.5973±0.1703</m:t>
                                </m:r>
                              </m:oMath>
                            </m:oMathPara>
                          </a14:m>
                          <a:endParaRPr lang="en-IL" sz="1600" dirty="0">
                            <a:solidFill>
                              <a:srgbClr val="FF0000"/>
                            </a:solidFill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606080453"/>
                      </a:ext>
                    </a:extLst>
                  </a:tr>
                  <a:tr h="496866">
                    <a:tc>
                      <a:txBody>
                        <a:bodyPr/>
                        <a:lstStyle/>
                        <a:p>
                          <a:r>
                            <a:rPr lang="en-GB" dirty="0"/>
                            <a:t>MDM-2</a:t>
                          </a:r>
                          <a:endParaRPr lang="en-IL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500" b="1" i="1" smtClean="0">
                                    <a:solidFill>
                                      <a:srgbClr val="00B050"/>
                                    </a:solidFill>
                                    <a:latin typeface="Cambria Math" panose="02040503050406030204" pitchFamily="18" charset="0"/>
                                  </a:rPr>
                                  <m:t>𝟎</m:t>
                                </m:r>
                                <m:r>
                                  <a:rPr lang="en-US" sz="1500" b="1" i="1" smtClean="0">
                                    <a:solidFill>
                                      <a:srgbClr val="00B050"/>
                                    </a:solidFill>
                                    <a:latin typeface="Cambria Math" panose="02040503050406030204" pitchFamily="18" charset="0"/>
                                  </a:rPr>
                                  <m:t>.</m:t>
                                </m:r>
                                <m:r>
                                  <a:rPr lang="en-US" sz="1500" b="1" i="1" smtClean="0">
                                    <a:solidFill>
                                      <a:srgbClr val="00B050"/>
                                    </a:solidFill>
                                    <a:latin typeface="Cambria Math" panose="02040503050406030204" pitchFamily="18" charset="0"/>
                                  </a:rPr>
                                  <m:t>𝟒𝟓𝟒𝟔</m:t>
                                </m:r>
                                <m:r>
                                  <a:rPr lang="en-US" sz="1500" b="1" i="1" smtClean="0">
                                    <a:solidFill>
                                      <a:srgbClr val="00B050"/>
                                    </a:solidFill>
                                    <a:latin typeface="Cambria Math" panose="02040503050406030204" pitchFamily="18" charset="0"/>
                                  </a:rPr>
                                  <m:t>±</m:t>
                                </m:r>
                                <m:r>
                                  <a:rPr lang="en-US" sz="1500" b="1" i="1" smtClean="0">
                                    <a:solidFill>
                                      <a:srgbClr val="00B050"/>
                                    </a:solidFill>
                                    <a:latin typeface="Cambria Math" panose="02040503050406030204" pitchFamily="18" charset="0"/>
                                  </a:rPr>
                                  <m:t>𝟎</m:t>
                                </m:r>
                                <m:r>
                                  <a:rPr lang="en-US" sz="1500" b="1" i="1" smtClean="0">
                                    <a:solidFill>
                                      <a:srgbClr val="00B050"/>
                                    </a:solidFill>
                                    <a:latin typeface="Cambria Math" panose="02040503050406030204" pitchFamily="18" charset="0"/>
                                  </a:rPr>
                                  <m:t>.</m:t>
                                </m:r>
                                <m:r>
                                  <a:rPr lang="en-US" sz="1500" b="1" i="1" smtClean="0">
                                    <a:solidFill>
                                      <a:srgbClr val="00B050"/>
                                    </a:solidFill>
                                    <a:latin typeface="Cambria Math" panose="02040503050406030204" pitchFamily="18" charset="0"/>
                                  </a:rPr>
                                  <m:t>𝟎𝟎𝟐𝟗</m:t>
                                </m:r>
                              </m:oMath>
                            </m:oMathPara>
                          </a14:m>
                          <a:endParaRPr lang="en-IL" sz="1500" b="1" dirty="0">
                            <a:solidFill>
                              <a:srgbClr val="00B050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500" b="1" i="1" smtClean="0">
                                    <a:solidFill>
                                      <a:srgbClr val="00B050"/>
                                    </a:solidFill>
                                    <a:latin typeface="Cambria Math" panose="02040503050406030204" pitchFamily="18" charset="0"/>
                                  </a:rPr>
                                  <m:t>𝟎</m:t>
                                </m:r>
                                <m:r>
                                  <a:rPr lang="en-US" sz="1500" b="1" i="1" smtClean="0">
                                    <a:solidFill>
                                      <a:srgbClr val="00B050"/>
                                    </a:solidFill>
                                    <a:latin typeface="Cambria Math" panose="02040503050406030204" pitchFamily="18" charset="0"/>
                                  </a:rPr>
                                  <m:t>.</m:t>
                                </m:r>
                                <m:r>
                                  <a:rPr lang="en-US" sz="1500" b="1" i="1" smtClean="0">
                                    <a:solidFill>
                                      <a:srgbClr val="00B050"/>
                                    </a:solidFill>
                                    <a:latin typeface="Cambria Math" panose="02040503050406030204" pitchFamily="18" charset="0"/>
                                  </a:rPr>
                                  <m:t>𝟔𝟔𝟎𝟔</m:t>
                                </m:r>
                                <m:r>
                                  <a:rPr lang="en-US" sz="1500" b="1" i="1" smtClean="0">
                                    <a:solidFill>
                                      <a:srgbClr val="00B050"/>
                                    </a:solidFill>
                                    <a:latin typeface="Cambria Math" panose="02040503050406030204" pitchFamily="18" charset="0"/>
                                  </a:rPr>
                                  <m:t>±</m:t>
                                </m:r>
                                <m:r>
                                  <a:rPr lang="en-US" sz="1500" b="1" i="1" smtClean="0">
                                    <a:solidFill>
                                      <a:srgbClr val="00B050"/>
                                    </a:solidFill>
                                    <a:latin typeface="Cambria Math" panose="02040503050406030204" pitchFamily="18" charset="0"/>
                                  </a:rPr>
                                  <m:t>𝟎</m:t>
                                </m:r>
                                <m:r>
                                  <a:rPr lang="en-US" sz="1500" b="1" i="1" smtClean="0">
                                    <a:solidFill>
                                      <a:srgbClr val="00B050"/>
                                    </a:solidFill>
                                    <a:latin typeface="Cambria Math" panose="02040503050406030204" pitchFamily="18" charset="0"/>
                                  </a:rPr>
                                  <m:t>.</m:t>
                                </m:r>
                                <m:r>
                                  <a:rPr lang="en-US" sz="1500" b="1" i="1" smtClean="0">
                                    <a:solidFill>
                                      <a:srgbClr val="00B050"/>
                                    </a:solidFill>
                                    <a:latin typeface="Cambria Math" panose="02040503050406030204" pitchFamily="18" charset="0"/>
                                  </a:rPr>
                                  <m:t>𝟎𝟎𝟑𝟑</m:t>
                                </m:r>
                              </m:oMath>
                            </m:oMathPara>
                          </a14:m>
                          <a:endParaRPr lang="en-IL" sz="1500" b="1" dirty="0">
                            <a:solidFill>
                              <a:srgbClr val="00B050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500" b="1" i="1" smtClean="0">
                                    <a:solidFill>
                                      <a:srgbClr val="00B050"/>
                                    </a:solidFill>
                                    <a:latin typeface="Cambria Math" panose="02040503050406030204" pitchFamily="18" charset="0"/>
                                  </a:rPr>
                                  <m:t>𝟎</m:t>
                                </m:r>
                                <m:r>
                                  <a:rPr lang="en-US" sz="1500" b="1" i="1" smtClean="0">
                                    <a:solidFill>
                                      <a:srgbClr val="00B050"/>
                                    </a:solidFill>
                                    <a:latin typeface="Cambria Math" panose="02040503050406030204" pitchFamily="18" charset="0"/>
                                  </a:rPr>
                                  <m:t>.</m:t>
                                </m:r>
                                <m:r>
                                  <a:rPr lang="en-US" sz="1500" b="1" i="1" smtClean="0">
                                    <a:solidFill>
                                      <a:srgbClr val="00B050"/>
                                    </a:solidFill>
                                    <a:latin typeface="Cambria Math" panose="02040503050406030204" pitchFamily="18" charset="0"/>
                                  </a:rPr>
                                  <m:t>𝟕𝟔𝟖𝟏</m:t>
                                </m:r>
                                <m:r>
                                  <a:rPr lang="en-US" sz="1500" b="1" i="1" smtClean="0">
                                    <a:solidFill>
                                      <a:srgbClr val="00B050"/>
                                    </a:solidFill>
                                    <a:latin typeface="Cambria Math" panose="02040503050406030204" pitchFamily="18" charset="0"/>
                                  </a:rPr>
                                  <m:t>±</m:t>
                                </m:r>
                                <m:r>
                                  <a:rPr lang="en-US" sz="1500" b="1" i="1" smtClean="0">
                                    <a:solidFill>
                                      <a:srgbClr val="00B050"/>
                                    </a:solidFill>
                                    <a:latin typeface="Cambria Math" panose="02040503050406030204" pitchFamily="18" charset="0"/>
                                  </a:rPr>
                                  <m:t>𝟎</m:t>
                                </m:r>
                                <m:r>
                                  <a:rPr lang="en-US" sz="1500" b="1" i="1" smtClean="0">
                                    <a:solidFill>
                                      <a:srgbClr val="00B050"/>
                                    </a:solidFill>
                                    <a:latin typeface="Cambria Math" panose="02040503050406030204" pitchFamily="18" charset="0"/>
                                  </a:rPr>
                                  <m:t>.</m:t>
                                </m:r>
                                <m:r>
                                  <a:rPr lang="en-US" sz="1500" b="1" i="1" smtClean="0">
                                    <a:solidFill>
                                      <a:srgbClr val="00B050"/>
                                    </a:solidFill>
                                    <a:latin typeface="Cambria Math" panose="02040503050406030204" pitchFamily="18" charset="0"/>
                                  </a:rPr>
                                  <m:t>𝟎𝟎𝟒𝟎</m:t>
                                </m:r>
                              </m:oMath>
                            </m:oMathPara>
                          </a14:m>
                          <a:endParaRPr lang="en-IL" sz="1500" b="1" dirty="0">
                            <a:solidFill>
                              <a:srgbClr val="00B050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500" b="1" i="1" smtClean="0">
                                    <a:solidFill>
                                      <a:srgbClr val="00B050"/>
                                    </a:solidFill>
                                    <a:latin typeface="Cambria Math" panose="02040503050406030204" pitchFamily="18" charset="0"/>
                                  </a:rPr>
                                  <m:t>𝟎</m:t>
                                </m:r>
                                <m:r>
                                  <a:rPr lang="en-US" sz="1500" b="1" i="1" smtClean="0">
                                    <a:solidFill>
                                      <a:srgbClr val="00B050"/>
                                    </a:solidFill>
                                    <a:latin typeface="Cambria Math" panose="02040503050406030204" pitchFamily="18" charset="0"/>
                                  </a:rPr>
                                  <m:t>.</m:t>
                                </m:r>
                                <m:r>
                                  <a:rPr lang="en-US" sz="1500" b="1" i="1" smtClean="0">
                                    <a:solidFill>
                                      <a:srgbClr val="00B050"/>
                                    </a:solidFill>
                                    <a:latin typeface="Cambria Math" panose="02040503050406030204" pitchFamily="18" charset="0"/>
                                  </a:rPr>
                                  <m:t>𝟔𝟎𝟒𝟐</m:t>
                                </m:r>
                                <m:r>
                                  <a:rPr lang="en-US" sz="1500" b="1" i="1" smtClean="0">
                                    <a:solidFill>
                                      <a:srgbClr val="00B050"/>
                                    </a:solidFill>
                                    <a:latin typeface="Cambria Math" panose="02040503050406030204" pitchFamily="18" charset="0"/>
                                  </a:rPr>
                                  <m:t>±</m:t>
                                </m:r>
                                <m:r>
                                  <a:rPr lang="en-US" sz="1500" b="1" i="1" smtClean="0">
                                    <a:solidFill>
                                      <a:srgbClr val="00B050"/>
                                    </a:solidFill>
                                    <a:latin typeface="Cambria Math" panose="02040503050406030204" pitchFamily="18" charset="0"/>
                                  </a:rPr>
                                  <m:t>𝟎</m:t>
                                </m:r>
                                <m:r>
                                  <a:rPr lang="en-US" sz="1500" b="1" i="1" smtClean="0">
                                    <a:solidFill>
                                      <a:srgbClr val="00B050"/>
                                    </a:solidFill>
                                    <a:latin typeface="Cambria Math" panose="02040503050406030204" pitchFamily="18" charset="0"/>
                                  </a:rPr>
                                  <m:t>.</m:t>
                                </m:r>
                                <m:r>
                                  <a:rPr lang="en-US" sz="1500" b="1" i="1" smtClean="0">
                                    <a:solidFill>
                                      <a:srgbClr val="00B050"/>
                                    </a:solidFill>
                                    <a:latin typeface="Cambria Math" panose="02040503050406030204" pitchFamily="18" charset="0"/>
                                  </a:rPr>
                                  <m:t>𝟎𝟖𝟔𝟖</m:t>
                                </m:r>
                              </m:oMath>
                            </m:oMathPara>
                          </a14:m>
                          <a:endParaRPr lang="en-IL" sz="1500" b="1" dirty="0">
                            <a:solidFill>
                              <a:srgbClr val="00B050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600" b="0" i="1" smtClean="0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  <m:t>9.0701±0.1454</m:t>
                                </m:r>
                              </m:oMath>
                            </m:oMathPara>
                          </a14:m>
                          <a:endParaRPr lang="en-IL" sz="1600" dirty="0">
                            <a:solidFill>
                              <a:srgbClr val="FF0000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600" b="0" i="1" smtClean="0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  <m:t>2.4932±0.0947</m:t>
                                </m:r>
                              </m:oMath>
                            </m:oMathPara>
                          </a14:m>
                          <a:endParaRPr lang="en-IL" sz="1600" dirty="0">
                            <a:solidFill>
                              <a:srgbClr val="FF0000"/>
                            </a:solidFill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188114110"/>
                      </a:ext>
                    </a:extLst>
                  </a:tr>
                  <a:tr h="496866">
                    <a:tc>
                      <a:txBody>
                        <a:bodyPr/>
                        <a:lstStyle/>
                        <a:p>
                          <a:r>
                            <a:rPr lang="en-GB" dirty="0"/>
                            <a:t>MDM-3</a:t>
                          </a:r>
                          <a:endParaRPr lang="en-IL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500" b="1" i="1" smtClean="0">
                                    <a:solidFill>
                                      <a:srgbClr val="92D050"/>
                                    </a:solidFill>
                                    <a:latin typeface="Cambria Math" panose="02040503050406030204" pitchFamily="18" charset="0"/>
                                  </a:rPr>
                                  <m:t>𝟎</m:t>
                                </m:r>
                                <m:r>
                                  <a:rPr lang="en-US" sz="1500" b="1" i="1" smtClean="0">
                                    <a:solidFill>
                                      <a:srgbClr val="92D050"/>
                                    </a:solidFill>
                                    <a:latin typeface="Cambria Math" panose="02040503050406030204" pitchFamily="18" charset="0"/>
                                  </a:rPr>
                                  <m:t>.</m:t>
                                </m:r>
                                <m:r>
                                  <a:rPr lang="en-US" sz="1500" b="1" i="1" smtClean="0">
                                    <a:solidFill>
                                      <a:srgbClr val="92D050"/>
                                    </a:solidFill>
                                    <a:latin typeface="Cambria Math" panose="02040503050406030204" pitchFamily="18" charset="0"/>
                                  </a:rPr>
                                  <m:t>𝟑𝟗𝟕𝟗</m:t>
                                </m:r>
                                <m:r>
                                  <a:rPr lang="en-US" sz="1500" b="1" i="1" smtClean="0">
                                    <a:solidFill>
                                      <a:srgbClr val="92D050"/>
                                    </a:solidFill>
                                    <a:latin typeface="Cambria Math" panose="02040503050406030204" pitchFamily="18" charset="0"/>
                                  </a:rPr>
                                  <m:t>±</m:t>
                                </m:r>
                                <m:r>
                                  <a:rPr lang="en-US" sz="1500" b="1" i="1" smtClean="0">
                                    <a:solidFill>
                                      <a:srgbClr val="92D050"/>
                                    </a:solidFill>
                                    <a:latin typeface="Cambria Math" panose="02040503050406030204" pitchFamily="18" charset="0"/>
                                  </a:rPr>
                                  <m:t>𝟎</m:t>
                                </m:r>
                                <m:r>
                                  <a:rPr lang="en-US" sz="1500" b="1" i="1" smtClean="0">
                                    <a:solidFill>
                                      <a:srgbClr val="92D050"/>
                                    </a:solidFill>
                                    <a:latin typeface="Cambria Math" panose="02040503050406030204" pitchFamily="18" charset="0"/>
                                  </a:rPr>
                                  <m:t>.</m:t>
                                </m:r>
                                <m:r>
                                  <a:rPr lang="en-US" sz="1500" b="1" i="1" smtClean="0">
                                    <a:solidFill>
                                      <a:srgbClr val="92D050"/>
                                    </a:solidFill>
                                    <a:latin typeface="Cambria Math" panose="02040503050406030204" pitchFamily="18" charset="0"/>
                                  </a:rPr>
                                  <m:t>𝟎𝟏𝟐𝟕</m:t>
                                </m:r>
                              </m:oMath>
                            </m:oMathPara>
                          </a14:m>
                          <a:endParaRPr lang="en-IL" sz="1500" b="1" dirty="0">
                            <a:solidFill>
                              <a:srgbClr val="92D050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500" b="1" i="1" smtClean="0">
                                    <a:solidFill>
                                      <a:srgbClr val="92D050"/>
                                    </a:solidFill>
                                    <a:latin typeface="Cambria Math" panose="02040503050406030204" pitchFamily="18" charset="0"/>
                                  </a:rPr>
                                  <m:t>𝟎</m:t>
                                </m:r>
                                <m:r>
                                  <a:rPr lang="en-US" sz="1500" b="1" i="1" smtClean="0">
                                    <a:solidFill>
                                      <a:srgbClr val="92D050"/>
                                    </a:solidFill>
                                    <a:latin typeface="Cambria Math" panose="02040503050406030204" pitchFamily="18" charset="0"/>
                                  </a:rPr>
                                  <m:t>.</m:t>
                                </m:r>
                                <m:r>
                                  <a:rPr lang="en-US" sz="1500" b="1" i="1" smtClean="0">
                                    <a:solidFill>
                                      <a:srgbClr val="92D050"/>
                                    </a:solidFill>
                                    <a:latin typeface="Cambria Math" panose="02040503050406030204" pitchFamily="18" charset="0"/>
                                  </a:rPr>
                                  <m:t>𝟓𝟖𝟕𝟕</m:t>
                                </m:r>
                                <m:r>
                                  <a:rPr lang="en-US" sz="1500" b="1" i="1" smtClean="0">
                                    <a:solidFill>
                                      <a:srgbClr val="92D050"/>
                                    </a:solidFill>
                                    <a:latin typeface="Cambria Math" panose="02040503050406030204" pitchFamily="18" charset="0"/>
                                  </a:rPr>
                                  <m:t>±</m:t>
                                </m:r>
                                <m:r>
                                  <a:rPr lang="en-US" sz="1500" b="1" i="1" smtClean="0">
                                    <a:solidFill>
                                      <a:srgbClr val="92D050"/>
                                    </a:solidFill>
                                    <a:latin typeface="Cambria Math" panose="02040503050406030204" pitchFamily="18" charset="0"/>
                                  </a:rPr>
                                  <m:t>𝟎</m:t>
                                </m:r>
                                <m:r>
                                  <a:rPr lang="en-US" sz="1500" b="1" i="1" smtClean="0">
                                    <a:solidFill>
                                      <a:srgbClr val="92D050"/>
                                    </a:solidFill>
                                    <a:latin typeface="Cambria Math" panose="02040503050406030204" pitchFamily="18" charset="0"/>
                                  </a:rPr>
                                  <m:t>.</m:t>
                                </m:r>
                                <m:r>
                                  <a:rPr lang="en-US" sz="1500" b="1" i="1" smtClean="0">
                                    <a:solidFill>
                                      <a:srgbClr val="92D050"/>
                                    </a:solidFill>
                                    <a:latin typeface="Cambria Math" panose="02040503050406030204" pitchFamily="18" charset="0"/>
                                  </a:rPr>
                                  <m:t>𝟎𝟏𝟐𝟑</m:t>
                                </m:r>
                              </m:oMath>
                            </m:oMathPara>
                          </a14:m>
                          <a:endParaRPr lang="en-IL" sz="1500" b="1" dirty="0">
                            <a:solidFill>
                              <a:srgbClr val="92D050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500" b="1" i="1" smtClean="0">
                                    <a:solidFill>
                                      <a:srgbClr val="92D050"/>
                                    </a:solidFill>
                                    <a:latin typeface="Cambria Math" panose="02040503050406030204" pitchFamily="18" charset="0"/>
                                  </a:rPr>
                                  <m:t>𝟎</m:t>
                                </m:r>
                                <m:r>
                                  <a:rPr lang="en-US" sz="1500" b="1" i="1" smtClean="0">
                                    <a:solidFill>
                                      <a:srgbClr val="92D050"/>
                                    </a:solidFill>
                                    <a:latin typeface="Cambria Math" panose="02040503050406030204" pitchFamily="18" charset="0"/>
                                  </a:rPr>
                                  <m:t>.</m:t>
                                </m:r>
                                <m:r>
                                  <a:rPr lang="en-US" sz="1500" b="1" i="1" smtClean="0">
                                    <a:solidFill>
                                      <a:srgbClr val="92D050"/>
                                    </a:solidFill>
                                    <a:latin typeface="Cambria Math" panose="02040503050406030204" pitchFamily="18" charset="0"/>
                                  </a:rPr>
                                  <m:t>𝟔𝟗𝟗𝟐</m:t>
                                </m:r>
                                <m:r>
                                  <a:rPr lang="en-US" sz="1500" b="1" i="1" smtClean="0">
                                    <a:solidFill>
                                      <a:srgbClr val="92D050"/>
                                    </a:solidFill>
                                    <a:latin typeface="Cambria Math" panose="02040503050406030204" pitchFamily="18" charset="0"/>
                                  </a:rPr>
                                  <m:t>±</m:t>
                                </m:r>
                                <m:r>
                                  <a:rPr lang="en-US" sz="1500" b="1" i="1" smtClean="0">
                                    <a:solidFill>
                                      <a:srgbClr val="92D050"/>
                                    </a:solidFill>
                                    <a:latin typeface="Cambria Math" panose="02040503050406030204" pitchFamily="18" charset="0"/>
                                  </a:rPr>
                                  <m:t>𝟎</m:t>
                                </m:r>
                                <m:r>
                                  <a:rPr lang="en-US" sz="1500" b="1" i="1" smtClean="0">
                                    <a:solidFill>
                                      <a:srgbClr val="92D050"/>
                                    </a:solidFill>
                                    <a:latin typeface="Cambria Math" panose="02040503050406030204" pitchFamily="18" charset="0"/>
                                  </a:rPr>
                                  <m:t>.</m:t>
                                </m:r>
                                <m:r>
                                  <a:rPr lang="en-US" sz="1500" b="1" i="1" smtClean="0">
                                    <a:solidFill>
                                      <a:srgbClr val="92D050"/>
                                    </a:solidFill>
                                    <a:latin typeface="Cambria Math" panose="02040503050406030204" pitchFamily="18" charset="0"/>
                                  </a:rPr>
                                  <m:t>𝟎𝟎𝟓𝟐</m:t>
                                </m:r>
                              </m:oMath>
                            </m:oMathPara>
                          </a14:m>
                          <a:endParaRPr lang="en-IL" sz="1500" b="1" dirty="0">
                            <a:solidFill>
                              <a:srgbClr val="92D050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500" b="1" i="1" smtClean="0">
                                    <a:solidFill>
                                      <a:srgbClr val="00B050"/>
                                    </a:solidFill>
                                    <a:latin typeface="Cambria Math" panose="02040503050406030204" pitchFamily="18" charset="0"/>
                                  </a:rPr>
                                  <m:t>𝟎</m:t>
                                </m:r>
                                <m:r>
                                  <a:rPr lang="en-US" sz="1500" b="1" i="1" smtClean="0">
                                    <a:solidFill>
                                      <a:srgbClr val="00B050"/>
                                    </a:solidFill>
                                    <a:latin typeface="Cambria Math" panose="02040503050406030204" pitchFamily="18" charset="0"/>
                                  </a:rPr>
                                  <m:t>.</m:t>
                                </m:r>
                                <m:r>
                                  <a:rPr lang="en-US" sz="1500" b="1" i="1" smtClean="0">
                                    <a:solidFill>
                                      <a:srgbClr val="00B050"/>
                                    </a:solidFill>
                                    <a:latin typeface="Cambria Math" panose="02040503050406030204" pitchFamily="18" charset="0"/>
                                  </a:rPr>
                                  <m:t>𝟓𝟔𝟎𝟐</m:t>
                                </m:r>
                                <m:r>
                                  <a:rPr lang="en-US" sz="1500" b="1" i="1" smtClean="0">
                                    <a:solidFill>
                                      <a:srgbClr val="00B050"/>
                                    </a:solidFill>
                                    <a:latin typeface="Cambria Math" panose="02040503050406030204" pitchFamily="18" charset="0"/>
                                  </a:rPr>
                                  <m:t>±</m:t>
                                </m:r>
                                <m:r>
                                  <a:rPr lang="en-US" sz="1500" b="1" i="1" smtClean="0">
                                    <a:solidFill>
                                      <a:srgbClr val="00B050"/>
                                    </a:solidFill>
                                    <a:latin typeface="Cambria Math" panose="02040503050406030204" pitchFamily="18" charset="0"/>
                                  </a:rPr>
                                  <m:t>𝟎</m:t>
                                </m:r>
                                <m:r>
                                  <a:rPr lang="en-US" sz="1500" b="1" i="1" smtClean="0">
                                    <a:solidFill>
                                      <a:srgbClr val="00B050"/>
                                    </a:solidFill>
                                    <a:latin typeface="Cambria Math" panose="02040503050406030204" pitchFamily="18" charset="0"/>
                                  </a:rPr>
                                  <m:t>.</m:t>
                                </m:r>
                                <m:r>
                                  <a:rPr lang="en-US" sz="1500" b="1" i="1" smtClean="0">
                                    <a:solidFill>
                                      <a:srgbClr val="00B050"/>
                                    </a:solidFill>
                                    <a:latin typeface="Cambria Math" panose="02040503050406030204" pitchFamily="18" charset="0"/>
                                  </a:rPr>
                                  <m:t>𝟎𝟖𝟏𝟕</m:t>
                                </m:r>
                              </m:oMath>
                            </m:oMathPara>
                          </a14:m>
                          <a:endParaRPr lang="en-IL" sz="1500" b="1" dirty="0">
                            <a:solidFill>
                              <a:srgbClr val="00B050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600" b="0" i="1" smtClean="0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  <m:t>9.3052±0.1416</m:t>
                                </m:r>
                              </m:oMath>
                            </m:oMathPara>
                          </a14:m>
                          <a:endParaRPr lang="en-IL" sz="1600" dirty="0">
                            <a:solidFill>
                              <a:srgbClr val="FF0000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600" b="0" i="1" smtClean="0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  <m:t>2.5170±0.0678</m:t>
                                </m:r>
                              </m:oMath>
                            </m:oMathPara>
                          </a14:m>
                          <a:endParaRPr lang="en-IL" sz="1600" dirty="0">
                            <a:solidFill>
                              <a:srgbClr val="FF0000"/>
                            </a:solidFill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381335036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4" name="Table 3">
                <a:extLst>
                  <a:ext uri="{FF2B5EF4-FFF2-40B4-BE49-F238E27FC236}">
                    <a16:creationId xmlns:a16="http://schemas.microsoft.com/office/drawing/2014/main" id="{8D34FCA1-E3EF-DB90-8492-88EF340F6EA4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508090384"/>
                  </p:ext>
                </p:extLst>
              </p:nvPr>
            </p:nvGraphicFramePr>
            <p:xfrm>
              <a:off x="0" y="170121"/>
              <a:ext cx="12191998" cy="4077025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741714">
                      <a:extLst>
                        <a:ext uri="{9D8B030D-6E8A-4147-A177-3AD203B41FA5}">
                          <a16:colId xmlns:a16="http://schemas.microsoft.com/office/drawing/2014/main" val="3095592704"/>
                        </a:ext>
                      </a:extLst>
                    </a:gridCol>
                    <a:gridCol w="1741714">
                      <a:extLst>
                        <a:ext uri="{9D8B030D-6E8A-4147-A177-3AD203B41FA5}">
                          <a16:colId xmlns:a16="http://schemas.microsoft.com/office/drawing/2014/main" val="732741407"/>
                        </a:ext>
                      </a:extLst>
                    </a:gridCol>
                    <a:gridCol w="1741714">
                      <a:extLst>
                        <a:ext uri="{9D8B030D-6E8A-4147-A177-3AD203B41FA5}">
                          <a16:colId xmlns:a16="http://schemas.microsoft.com/office/drawing/2014/main" val="337792108"/>
                        </a:ext>
                      </a:extLst>
                    </a:gridCol>
                    <a:gridCol w="1741714">
                      <a:extLst>
                        <a:ext uri="{9D8B030D-6E8A-4147-A177-3AD203B41FA5}">
                          <a16:colId xmlns:a16="http://schemas.microsoft.com/office/drawing/2014/main" val="2200391211"/>
                        </a:ext>
                      </a:extLst>
                    </a:gridCol>
                    <a:gridCol w="1741714">
                      <a:extLst>
                        <a:ext uri="{9D8B030D-6E8A-4147-A177-3AD203B41FA5}">
                          <a16:colId xmlns:a16="http://schemas.microsoft.com/office/drawing/2014/main" val="2095260363"/>
                        </a:ext>
                      </a:extLst>
                    </a:gridCol>
                    <a:gridCol w="1741714">
                      <a:extLst>
                        <a:ext uri="{9D8B030D-6E8A-4147-A177-3AD203B41FA5}">
                          <a16:colId xmlns:a16="http://schemas.microsoft.com/office/drawing/2014/main" val="2425648250"/>
                        </a:ext>
                      </a:extLst>
                    </a:gridCol>
                    <a:gridCol w="1741714">
                      <a:extLst>
                        <a:ext uri="{9D8B030D-6E8A-4147-A177-3AD203B41FA5}">
                          <a16:colId xmlns:a16="http://schemas.microsoft.com/office/drawing/2014/main" val="3253171664"/>
                        </a:ext>
                      </a:extLst>
                    </a:gridCol>
                  </a:tblGrid>
                  <a:tr h="1592695">
                    <a:tc>
                      <a:txBody>
                        <a:bodyPr/>
                        <a:lstStyle/>
                        <a:p>
                          <a:endParaRPr lang="en-IL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LID4096"/>
                        </a:p>
                      </a:txBody>
                      <a:tcPr>
                        <a:blipFill>
                          <a:blip r:embed="rId2"/>
                          <a:stretch>
                            <a:fillRect l="-101053" t="-763" r="-503158" b="-15648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LID4096"/>
                        </a:p>
                      </a:txBody>
                      <a:tcPr>
                        <a:blipFill>
                          <a:blip r:embed="rId2"/>
                          <a:stretch>
                            <a:fillRect l="-200350" t="-763" r="-401399" b="-15648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LID4096"/>
                        </a:p>
                      </a:txBody>
                      <a:tcPr>
                        <a:blipFill>
                          <a:blip r:embed="rId2"/>
                          <a:stretch>
                            <a:fillRect l="-300350" t="-763" r="-301399" b="-15648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LID4096"/>
                        </a:p>
                      </a:txBody>
                      <a:tcPr>
                        <a:blipFill>
                          <a:blip r:embed="rId2"/>
                          <a:stretch>
                            <a:fillRect l="-400350" t="-763" r="-201399" b="-15648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LID4096"/>
                        </a:p>
                      </a:txBody>
                      <a:tcPr>
                        <a:blipFill>
                          <a:blip r:embed="rId2"/>
                          <a:stretch>
                            <a:fillRect l="-502105" t="-763" r="-102105" b="-15648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LID4096"/>
                        </a:p>
                      </a:txBody>
                      <a:tcPr>
                        <a:blipFill>
                          <a:blip r:embed="rId2"/>
                          <a:stretch>
                            <a:fillRect l="-600000" t="-763" r="-1748" b="-156489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872491175"/>
                      </a:ext>
                    </a:extLst>
                  </a:tr>
                  <a:tr h="496866"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Real</a:t>
                          </a:r>
                          <a:endParaRPr lang="en-IL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LID4096"/>
                        </a:p>
                      </a:txBody>
                      <a:tcPr>
                        <a:blipFill>
                          <a:blip r:embed="rId2"/>
                          <a:stretch>
                            <a:fillRect l="-101053" t="-325926" r="-503158" b="-40617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LID4096"/>
                        </a:p>
                      </a:txBody>
                      <a:tcPr>
                        <a:blipFill>
                          <a:blip r:embed="rId2"/>
                          <a:stretch>
                            <a:fillRect l="-200350" t="-325926" r="-401399" b="-40617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LID4096"/>
                        </a:p>
                      </a:txBody>
                      <a:tcPr>
                        <a:blipFill>
                          <a:blip r:embed="rId2"/>
                          <a:stretch>
                            <a:fillRect l="-300350" t="-325926" r="-301399" b="-40617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LID4096"/>
                        </a:p>
                      </a:txBody>
                      <a:tcPr>
                        <a:blipFill>
                          <a:blip r:embed="rId2"/>
                          <a:stretch>
                            <a:fillRect l="-400350" t="-325926" r="-201399" b="-40617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LID4096"/>
                        </a:p>
                      </a:txBody>
                      <a:tcPr>
                        <a:blipFill>
                          <a:blip r:embed="rId2"/>
                          <a:stretch>
                            <a:fillRect l="-502105" t="-325926" r="-102105" b="-40617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LID4096"/>
                        </a:p>
                      </a:txBody>
                      <a:tcPr>
                        <a:blipFill>
                          <a:blip r:embed="rId2"/>
                          <a:stretch>
                            <a:fillRect l="-600000" t="-325926" r="-1748" b="-406173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463540001"/>
                      </a:ext>
                    </a:extLst>
                  </a:tr>
                  <a:tr h="496866"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MDM-Original</a:t>
                          </a:r>
                          <a:endParaRPr lang="en-IL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LID4096"/>
                        </a:p>
                      </a:txBody>
                      <a:tcPr>
                        <a:blipFill>
                          <a:blip r:embed="rId2"/>
                          <a:stretch>
                            <a:fillRect l="-101053" t="-420732" r="-503158" b="-30122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LID4096"/>
                        </a:p>
                      </a:txBody>
                      <a:tcPr>
                        <a:blipFill>
                          <a:blip r:embed="rId2"/>
                          <a:stretch>
                            <a:fillRect l="-200350" t="-420732" r="-401399" b="-30122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LID4096"/>
                        </a:p>
                      </a:txBody>
                      <a:tcPr>
                        <a:blipFill>
                          <a:blip r:embed="rId2"/>
                          <a:stretch>
                            <a:fillRect l="-300350" t="-420732" r="-301399" b="-30122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LID4096"/>
                        </a:p>
                      </a:txBody>
                      <a:tcPr>
                        <a:blipFill>
                          <a:blip r:embed="rId2"/>
                          <a:stretch>
                            <a:fillRect l="-400350" t="-420732" r="-201399" b="-30122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LID4096"/>
                        </a:p>
                      </a:txBody>
                      <a:tcPr>
                        <a:blipFill>
                          <a:blip r:embed="rId2"/>
                          <a:stretch>
                            <a:fillRect l="-502105" t="-420732" r="-102105" b="-30122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LID4096"/>
                        </a:p>
                      </a:txBody>
                      <a:tcPr>
                        <a:blipFill>
                          <a:blip r:embed="rId2"/>
                          <a:stretch>
                            <a:fillRect l="-600000" t="-420732" r="-1748" b="-30122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283256994"/>
                      </a:ext>
                    </a:extLst>
                  </a:tr>
                  <a:tr h="496866">
                    <a:tc>
                      <a:txBody>
                        <a:bodyPr/>
                        <a:lstStyle/>
                        <a:p>
                          <a:r>
                            <a:rPr lang="en-IL" dirty="0"/>
                            <a:t>MDM-</a:t>
                          </a:r>
                          <a:r>
                            <a:rPr lang="en-GB" dirty="0"/>
                            <a:t>1</a:t>
                          </a:r>
                          <a:endParaRPr lang="en-IL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LID4096"/>
                        </a:p>
                      </a:txBody>
                      <a:tcPr>
                        <a:blipFill>
                          <a:blip r:embed="rId2"/>
                          <a:stretch>
                            <a:fillRect l="-101053" t="-520732" r="-503158" b="-20122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LID4096"/>
                        </a:p>
                      </a:txBody>
                      <a:tcPr>
                        <a:blipFill>
                          <a:blip r:embed="rId2"/>
                          <a:stretch>
                            <a:fillRect l="-200350" t="-520732" r="-401399" b="-20122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LID4096"/>
                        </a:p>
                      </a:txBody>
                      <a:tcPr>
                        <a:blipFill>
                          <a:blip r:embed="rId2"/>
                          <a:stretch>
                            <a:fillRect l="-300350" t="-520732" r="-301399" b="-20122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LID4096"/>
                        </a:p>
                      </a:txBody>
                      <a:tcPr>
                        <a:blipFill>
                          <a:blip r:embed="rId2"/>
                          <a:stretch>
                            <a:fillRect l="-400350" t="-520732" r="-201399" b="-20122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LID4096"/>
                        </a:p>
                      </a:txBody>
                      <a:tcPr>
                        <a:blipFill>
                          <a:blip r:embed="rId2"/>
                          <a:stretch>
                            <a:fillRect l="-502105" t="-520732" r="-102105" b="-20122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LID4096"/>
                        </a:p>
                      </a:txBody>
                      <a:tcPr>
                        <a:blipFill>
                          <a:blip r:embed="rId2"/>
                          <a:stretch>
                            <a:fillRect l="-600000" t="-520732" r="-1748" b="-20122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606080453"/>
                      </a:ext>
                    </a:extLst>
                  </a:tr>
                  <a:tr h="496866">
                    <a:tc>
                      <a:txBody>
                        <a:bodyPr/>
                        <a:lstStyle/>
                        <a:p>
                          <a:r>
                            <a:rPr lang="en-GB" dirty="0"/>
                            <a:t>MDM-2</a:t>
                          </a:r>
                          <a:endParaRPr lang="en-IL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LID4096"/>
                        </a:p>
                      </a:txBody>
                      <a:tcPr>
                        <a:blipFill>
                          <a:blip r:embed="rId2"/>
                          <a:stretch>
                            <a:fillRect l="-101053" t="-628395" r="-503158" b="-10370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LID4096"/>
                        </a:p>
                      </a:txBody>
                      <a:tcPr>
                        <a:blipFill>
                          <a:blip r:embed="rId2"/>
                          <a:stretch>
                            <a:fillRect l="-200350" t="-628395" r="-401399" b="-10370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LID4096"/>
                        </a:p>
                      </a:txBody>
                      <a:tcPr>
                        <a:blipFill>
                          <a:blip r:embed="rId2"/>
                          <a:stretch>
                            <a:fillRect l="-300350" t="-628395" r="-301399" b="-10370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LID4096"/>
                        </a:p>
                      </a:txBody>
                      <a:tcPr>
                        <a:blipFill>
                          <a:blip r:embed="rId2"/>
                          <a:stretch>
                            <a:fillRect l="-400350" t="-628395" r="-201399" b="-10370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LID4096"/>
                        </a:p>
                      </a:txBody>
                      <a:tcPr>
                        <a:blipFill>
                          <a:blip r:embed="rId2"/>
                          <a:stretch>
                            <a:fillRect l="-502105" t="-628395" r="-102105" b="-10370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LID4096"/>
                        </a:p>
                      </a:txBody>
                      <a:tcPr>
                        <a:blipFill>
                          <a:blip r:embed="rId2"/>
                          <a:stretch>
                            <a:fillRect l="-600000" t="-628395" r="-1748" b="-103704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188114110"/>
                      </a:ext>
                    </a:extLst>
                  </a:tr>
                  <a:tr h="496866">
                    <a:tc>
                      <a:txBody>
                        <a:bodyPr/>
                        <a:lstStyle/>
                        <a:p>
                          <a:r>
                            <a:rPr lang="en-GB" dirty="0"/>
                            <a:t>MDM-3</a:t>
                          </a:r>
                          <a:endParaRPr lang="en-IL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LID4096"/>
                        </a:p>
                      </a:txBody>
                      <a:tcPr>
                        <a:blipFill>
                          <a:blip r:embed="rId2"/>
                          <a:stretch>
                            <a:fillRect l="-101053" t="-719512" r="-503158" b="-243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LID4096"/>
                        </a:p>
                      </a:txBody>
                      <a:tcPr>
                        <a:blipFill>
                          <a:blip r:embed="rId2"/>
                          <a:stretch>
                            <a:fillRect l="-200350" t="-719512" r="-401399" b="-243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LID4096"/>
                        </a:p>
                      </a:txBody>
                      <a:tcPr>
                        <a:blipFill>
                          <a:blip r:embed="rId2"/>
                          <a:stretch>
                            <a:fillRect l="-300350" t="-719512" r="-301399" b="-243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LID4096"/>
                        </a:p>
                      </a:txBody>
                      <a:tcPr>
                        <a:blipFill>
                          <a:blip r:embed="rId2"/>
                          <a:stretch>
                            <a:fillRect l="-400350" t="-719512" r="-201399" b="-243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LID4096"/>
                        </a:p>
                      </a:txBody>
                      <a:tcPr>
                        <a:blipFill>
                          <a:blip r:embed="rId2"/>
                          <a:stretch>
                            <a:fillRect l="-502105" t="-719512" r="-102105" b="-243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LID4096"/>
                        </a:p>
                      </a:txBody>
                      <a:tcPr>
                        <a:blipFill>
                          <a:blip r:embed="rId2"/>
                          <a:stretch>
                            <a:fillRect l="-600000" t="-719512" r="-1748" b="-2439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381335036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6" name="TextBox 5">
            <a:extLst>
              <a:ext uri="{FF2B5EF4-FFF2-40B4-BE49-F238E27FC236}">
                <a16:creationId xmlns:a16="http://schemas.microsoft.com/office/drawing/2014/main" id="{D8B52ECA-A573-67CB-26D7-DB76DE590463}"/>
              </a:ext>
            </a:extLst>
          </p:cNvPr>
          <p:cNvSpPr txBox="1"/>
          <p:nvPr/>
        </p:nvSpPr>
        <p:spPr>
          <a:xfrm>
            <a:off x="412011" y="4573403"/>
            <a:ext cx="6119036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dirty="0"/>
              <a:t>1. </a:t>
            </a:r>
            <a:r>
              <a:rPr lang="en-IL" dirty="0" err="1"/>
              <a:t>DiT</a:t>
            </a:r>
            <a:r>
              <a:rPr lang="en-GB" dirty="0"/>
              <a:t> </a:t>
            </a:r>
            <a:r>
              <a:rPr lang="en-IL" dirty="0"/>
              <a:t>Block</a:t>
            </a:r>
            <a:r>
              <a:rPr lang="en-GB" dirty="0"/>
              <a:t> </a:t>
            </a:r>
            <a:r>
              <a:rPr lang="en-IL" dirty="0"/>
              <a:t>with</a:t>
            </a:r>
            <a:r>
              <a:rPr lang="en-GB" dirty="0"/>
              <a:t> </a:t>
            </a:r>
            <a:r>
              <a:rPr lang="en-IL" dirty="0" err="1"/>
              <a:t>adaLN</a:t>
            </a:r>
            <a:r>
              <a:rPr lang="en-IL" dirty="0"/>
              <a:t>-Zero</a:t>
            </a:r>
            <a:endParaRPr lang="en-GB" dirty="0"/>
          </a:p>
          <a:p>
            <a:r>
              <a:rPr lang="en-GB" dirty="0"/>
              <a:t>2. </a:t>
            </a:r>
            <a:r>
              <a:rPr lang="en-GB" dirty="0" err="1"/>
              <a:t>DiT</a:t>
            </a:r>
            <a:r>
              <a:rPr lang="en-GB" dirty="0"/>
              <a:t> Block with Cross-Attention</a:t>
            </a:r>
          </a:p>
          <a:p>
            <a:r>
              <a:rPr lang="en-GB" dirty="0"/>
              <a:t>3. </a:t>
            </a:r>
            <a:r>
              <a:rPr lang="en-US" dirty="0" err="1"/>
              <a:t>DiT</a:t>
            </a:r>
            <a:r>
              <a:rPr lang="en-US" dirty="0"/>
              <a:t> Block with In-Context Conditioning</a:t>
            </a:r>
            <a:endParaRPr lang="en-IL" dirty="0"/>
          </a:p>
        </p:txBody>
      </p:sp>
    </p:spTree>
    <p:extLst>
      <p:ext uri="{BB962C8B-B14F-4D97-AF65-F5344CB8AC3E}">
        <p14:creationId xmlns:p14="http://schemas.microsoft.com/office/powerpoint/2010/main" val="348337538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1069D22-88FC-02E9-1CDF-FE0D544A339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graphicFrame>
            <p:nvGraphicFramePr>
              <p:cNvPr id="4" name="Table 3">
                <a:extLst>
                  <a:ext uri="{FF2B5EF4-FFF2-40B4-BE49-F238E27FC236}">
                    <a16:creationId xmlns:a16="http://schemas.microsoft.com/office/drawing/2014/main" id="{2781273F-C464-4B12-18B8-0F3D382584AF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401192832"/>
                  </p:ext>
                </p:extLst>
              </p:nvPr>
            </p:nvGraphicFramePr>
            <p:xfrm>
              <a:off x="0" y="170121"/>
              <a:ext cx="12191998" cy="5070757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741714">
                      <a:extLst>
                        <a:ext uri="{9D8B030D-6E8A-4147-A177-3AD203B41FA5}">
                          <a16:colId xmlns:a16="http://schemas.microsoft.com/office/drawing/2014/main" val="3095592704"/>
                        </a:ext>
                      </a:extLst>
                    </a:gridCol>
                    <a:gridCol w="1741714">
                      <a:extLst>
                        <a:ext uri="{9D8B030D-6E8A-4147-A177-3AD203B41FA5}">
                          <a16:colId xmlns:a16="http://schemas.microsoft.com/office/drawing/2014/main" val="732741407"/>
                        </a:ext>
                      </a:extLst>
                    </a:gridCol>
                    <a:gridCol w="1741714">
                      <a:extLst>
                        <a:ext uri="{9D8B030D-6E8A-4147-A177-3AD203B41FA5}">
                          <a16:colId xmlns:a16="http://schemas.microsoft.com/office/drawing/2014/main" val="337792108"/>
                        </a:ext>
                      </a:extLst>
                    </a:gridCol>
                    <a:gridCol w="1741714">
                      <a:extLst>
                        <a:ext uri="{9D8B030D-6E8A-4147-A177-3AD203B41FA5}">
                          <a16:colId xmlns:a16="http://schemas.microsoft.com/office/drawing/2014/main" val="2200391211"/>
                        </a:ext>
                      </a:extLst>
                    </a:gridCol>
                    <a:gridCol w="1741714">
                      <a:extLst>
                        <a:ext uri="{9D8B030D-6E8A-4147-A177-3AD203B41FA5}">
                          <a16:colId xmlns:a16="http://schemas.microsoft.com/office/drawing/2014/main" val="2095260363"/>
                        </a:ext>
                      </a:extLst>
                    </a:gridCol>
                    <a:gridCol w="1741714">
                      <a:extLst>
                        <a:ext uri="{9D8B030D-6E8A-4147-A177-3AD203B41FA5}">
                          <a16:colId xmlns:a16="http://schemas.microsoft.com/office/drawing/2014/main" val="2425648250"/>
                        </a:ext>
                      </a:extLst>
                    </a:gridCol>
                    <a:gridCol w="1741714">
                      <a:extLst>
                        <a:ext uri="{9D8B030D-6E8A-4147-A177-3AD203B41FA5}">
                          <a16:colId xmlns:a16="http://schemas.microsoft.com/office/drawing/2014/main" val="3253171664"/>
                        </a:ext>
                      </a:extLst>
                    </a:gridCol>
                  </a:tblGrid>
                  <a:tr h="1592695">
                    <a:tc>
                      <a:txBody>
                        <a:bodyPr/>
                        <a:lstStyle/>
                        <a:p>
                          <a:endParaRPr lang="en-IL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sz="1600" dirty="0"/>
                            <a:t>R Precision (top 1) </a:t>
                          </a:r>
                          <a14:m>
                            <m:oMath xmlns:m="http://schemas.openxmlformats.org/officeDocument/2006/math">
                              <m:r>
                                <a:rPr lang="en-US" sz="160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↑</m:t>
                              </m:r>
                            </m:oMath>
                          </a14:m>
                          <a:endParaRPr lang="en-IL" sz="16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sz="1600" dirty="0"/>
                            <a:t>R Precision (top 2) </a:t>
                          </a:r>
                          <a14:m>
                            <m:oMath xmlns:m="http://schemas.openxmlformats.org/officeDocument/2006/math">
                              <m:r>
                                <a:rPr lang="en-US" sz="160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↑</m:t>
                              </m:r>
                            </m:oMath>
                          </a14:m>
                          <a:endParaRPr lang="en-IL" sz="16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600" dirty="0"/>
                            <a:t>R Precision (top 3) </a:t>
                          </a:r>
                          <a14:m>
                            <m:oMath xmlns:m="http://schemas.openxmlformats.org/officeDocument/2006/math">
                              <m:r>
                                <a:rPr lang="en-US" sz="160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↑</m:t>
                              </m:r>
                            </m:oMath>
                          </a14:m>
                          <a:endParaRPr lang="en-IL" sz="16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600" dirty="0"/>
                            <a:t>FID </a:t>
                          </a:r>
                          <a14:m>
                            <m:oMath xmlns:m="http://schemas.openxmlformats.org/officeDocument/2006/math">
                              <m:r>
                                <a:rPr lang="en-US" sz="160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↓</m:t>
                              </m:r>
                            </m:oMath>
                          </a14:m>
                          <a:endParaRPr lang="en-IL" sz="16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600" dirty="0"/>
                            <a:t>Diversity </a:t>
                          </a:r>
                          <a14:m>
                            <m:oMath xmlns:m="http://schemas.openxmlformats.org/officeDocument/2006/math">
                              <m:r>
                                <a:rPr lang="en-US" sz="1600" b="1" i="1" smtClean="0">
                                  <a:latin typeface="Cambria Math" panose="02040503050406030204" pitchFamily="18" charset="0"/>
                                </a:rPr>
                                <m:t>→</m:t>
                              </m:r>
                            </m:oMath>
                          </a14:m>
                          <a:endParaRPr lang="en-IL" sz="16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600" dirty="0"/>
                            <a:t>Multimodality </a:t>
                          </a:r>
                          <a14:m>
                            <m:oMath xmlns:m="http://schemas.openxmlformats.org/officeDocument/2006/math">
                              <m:r>
                                <a:rPr lang="en-US" sz="1600" b="1" i="1" smtClean="0">
                                  <a:latin typeface="Cambria Math" panose="02040503050406030204" pitchFamily="18" charset="0"/>
                                </a:rPr>
                                <m:t>↑</m:t>
                              </m:r>
                            </m:oMath>
                          </a14:m>
                          <a:endParaRPr lang="en-IL" sz="1600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872491175"/>
                      </a:ext>
                    </a:extLst>
                  </a:tr>
                  <a:tr h="496866"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SWA-</a:t>
                          </a:r>
                          <a:r>
                            <a:rPr lang="en-GB" dirty="0"/>
                            <a:t>1</a:t>
                          </a:r>
                          <a:endParaRPr lang="en-IL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600" b="0" i="1" u="none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0.4102±0.0081</m:t>
                                </m:r>
                              </m:oMath>
                            </m:oMathPara>
                          </a14:m>
                          <a:endParaRPr lang="en-IL" sz="1600" b="0" i="0" u="none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600" b="0" i="1" u="none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0.6059±0.0083</m:t>
                                </m:r>
                              </m:oMath>
                            </m:oMathPara>
                          </a14:m>
                          <a:endParaRPr lang="en-IL" sz="1600" b="0" i="0" u="none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600" b="0" i="1" u="none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0.7205±0.0087</m:t>
                                </m:r>
                              </m:oMath>
                            </m:oMathPara>
                          </a14:m>
                          <a:endParaRPr lang="en-IL" sz="1600" b="0" i="0" u="none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600" b="0" i="1" u="none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1.1091±0.1846</m:t>
                                </m:r>
                              </m:oMath>
                            </m:oMathPara>
                          </a14:m>
                          <a:endParaRPr lang="en-IL" sz="1600" b="0" i="0" u="none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600" b="0" i="1" u="none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9.3799±0.1220</m:t>
                                </m:r>
                              </m:oMath>
                            </m:oMathPara>
                          </a14:m>
                          <a:endParaRPr lang="en-IL" sz="1600" b="0" i="0" u="none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600" b="0" i="1" u="none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2.407±0.0826</m:t>
                                </m:r>
                              </m:oMath>
                            </m:oMathPara>
                          </a14:m>
                          <a:endParaRPr lang="en-IL" sz="1600" b="0" i="0" u="none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606080453"/>
                      </a:ext>
                    </a:extLst>
                  </a:tr>
                  <a:tr h="496866">
                    <a:tc>
                      <a:txBody>
                        <a:bodyPr/>
                        <a:lstStyle/>
                        <a:p>
                          <a:r>
                            <a:rPr lang="en-GB" dirty="0"/>
                            <a:t>SWA-2</a:t>
                          </a:r>
                          <a:endParaRPr lang="en-IL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600" b="0" i="1" u="none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0.4100±0.0135</m:t>
                                </m:r>
                              </m:oMath>
                            </m:oMathPara>
                          </a14:m>
                          <a:endParaRPr lang="en-IL" sz="1600" b="0" i="0" u="none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600" b="0" i="1" u="none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0.6146±0.0077</m:t>
                                </m:r>
                              </m:oMath>
                            </m:oMathPara>
                          </a14:m>
                          <a:endParaRPr lang="en-IL" sz="1600" b="0" i="0" u="none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600" b="0" i="1" u="none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0.7254±0.0055</m:t>
                                </m:r>
                              </m:oMath>
                            </m:oMathPara>
                          </a14:m>
                          <a:endParaRPr lang="en-IL" sz="1600" b="0" i="0" u="none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solidFill>
                          <a:schemeClr val="accent6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600" b="0" i="1" u="none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0.7480±0.1373</m:t>
                                </m:r>
                              </m:oMath>
                            </m:oMathPara>
                          </a14:m>
                          <a:endParaRPr lang="en-IL" sz="1600" b="0" i="0" u="none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600" b="0" i="1" u="none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9.5032±0.1696</m:t>
                                </m:r>
                              </m:oMath>
                            </m:oMathPara>
                          </a14:m>
                          <a:endParaRPr lang="en-IL" sz="1600" b="0" i="0" u="none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600" b="0" i="1" u="none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2.2632±0.0623</m:t>
                                </m:r>
                              </m:oMath>
                            </m:oMathPara>
                          </a14:m>
                          <a:endParaRPr lang="en-IL" sz="1600" b="0" i="0" u="none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188114110"/>
                      </a:ext>
                    </a:extLst>
                  </a:tr>
                  <a:tr h="496866"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dirty="0"/>
                            <a:t>SWA-3</a:t>
                          </a:r>
                          <a:endParaRPr lang="en-IL" dirty="0"/>
                        </a:p>
                      </a:txBody>
                      <a:tcPr>
                        <a:solidFill>
                          <a:schemeClr val="accent6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600" b="0" i="1" u="none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0.4869±0.0070</m:t>
                                </m:r>
                              </m:oMath>
                            </m:oMathPara>
                          </a14:m>
                          <a:endParaRPr lang="en-IL" sz="1600" b="0" i="0" u="none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solidFill>
                          <a:schemeClr val="accent6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600" b="0" i="1" u="none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0.6805±0.0080</m:t>
                                </m:r>
                              </m:oMath>
                            </m:oMathPara>
                          </a14:m>
                          <a:endParaRPr lang="en-IL" sz="1600" b="0" i="0" u="none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solidFill>
                          <a:schemeClr val="accent6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600" b="0" i="1" u="none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0.7947±0.0076</m:t>
                                </m:r>
                              </m:oMath>
                            </m:oMathPara>
                          </a14:m>
                          <a:endParaRPr lang="en-IL" sz="1600" b="0" i="0" u="none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600" b="0" i="0" u="none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0.6248±0.0621</m:t>
                                </m:r>
                              </m:oMath>
                            </m:oMathPara>
                          </a14:m>
                          <a:endParaRPr lang="en-US" sz="1600" b="0" i="0" u="none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solidFill>
                          <a:schemeClr val="accent6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600" b="0" i="1" u="none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9.6316±0.1798</m:t>
                                </m:r>
                              </m:oMath>
                            </m:oMathPara>
                          </a14:m>
                          <a:endParaRPr lang="en-IL" sz="1600" b="0" i="0" u="none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600" b="0" i="1" u="none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2.6038±0.1162</m:t>
                                </m:r>
                              </m:oMath>
                            </m:oMathPara>
                          </a14:m>
                          <a:endParaRPr lang="en-IL" sz="1600" b="0" i="0" u="none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675597904"/>
                      </a:ext>
                    </a:extLst>
                  </a:tr>
                  <a:tr h="496866">
                    <a:tc>
                      <a:txBody>
                        <a:bodyPr/>
                        <a:lstStyle/>
                        <a:p>
                          <a:r>
                            <a:rPr lang="en-GB" dirty="0"/>
                            <a:t>SWA-4</a:t>
                          </a:r>
                          <a:endParaRPr lang="en-IL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600" b="0" i="1" u="none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0.4057±0.0063</m:t>
                                </m:r>
                              </m:oMath>
                            </m:oMathPara>
                          </a14:m>
                          <a:endParaRPr lang="en-IL" sz="1600" b="0" i="0" u="none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600" b="0" i="1" u="none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0.6029±0.0070</m:t>
                                </m:r>
                              </m:oMath>
                            </m:oMathPara>
                          </a14:m>
                          <a:endParaRPr lang="en-IL" sz="1600" b="0" i="0" u="none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600" b="0" i="1" u="none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0.7211±0.0037</m:t>
                                </m:r>
                              </m:oMath>
                            </m:oMathPara>
                          </a14:m>
                          <a:endParaRPr lang="en-US" sz="1600" b="0" i="0" u="none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600" b="0" i="1" u="none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0.9196±0.1833</m:t>
                                </m:r>
                              </m:oMath>
                            </m:oMathPara>
                          </a14:m>
                          <a:endParaRPr lang="en-IL" sz="1600" b="0" i="0" u="none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600" b="0" i="1" u="none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9.3885±0.1943</m:t>
                                </m:r>
                              </m:oMath>
                            </m:oMathPara>
                          </a14:m>
                          <a:endParaRPr lang="en-IL" sz="1600" b="0" i="0" u="none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600" b="0" i="1" u="none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2.4265±0.1204</m:t>
                                </m:r>
                              </m:oMath>
                            </m:oMathPara>
                          </a14:m>
                          <a:endParaRPr lang="en-IL" sz="1600" b="0" i="0" u="none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381335036"/>
                      </a:ext>
                    </a:extLst>
                  </a:tr>
                  <a:tr h="496866">
                    <a:tc>
                      <a:txBody>
                        <a:bodyPr/>
                        <a:lstStyle/>
                        <a:p>
                          <a:endParaRPr lang="en-IL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IL" sz="1600" b="0" i="0" u="none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IL" sz="1600" b="0" i="0" u="none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IL" sz="1600" b="0" i="0" u="none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 sz="1600" b="0" i="0" u="none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IL" sz="1600" b="0" i="0" u="none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IL" sz="1600" b="0" i="0" u="none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229097935"/>
                      </a:ext>
                    </a:extLst>
                  </a:tr>
                  <a:tr h="496866">
                    <a:tc>
                      <a:txBody>
                        <a:bodyPr/>
                        <a:lstStyle/>
                        <a:p>
                          <a:r>
                            <a:rPr lang="en-GB" dirty="0"/>
                            <a:t>NA-16</a:t>
                          </a:r>
                          <a:endParaRPr lang="en-IL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600" b="0" i="1" u="none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0.3732±0.0121</m:t>
                                </m:r>
                              </m:oMath>
                            </m:oMathPara>
                          </a14:m>
                          <a:endParaRPr lang="en-IL" sz="1600" b="0" i="0" u="none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600" b="0" i="1" u="none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0.5723±0.0093</m:t>
                                </m:r>
                              </m:oMath>
                            </m:oMathPara>
                          </a14:m>
                          <a:endParaRPr lang="en-IL" sz="1600" b="0" i="0" u="none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600" b="0" i="1" u="none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0.6869±0.0075</m:t>
                                </m:r>
                              </m:oMath>
                            </m:oMathPara>
                          </a14:m>
                          <a:endParaRPr lang="en-IL" sz="1600" b="0" i="0" u="none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600" b="0" i="1" u="none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1.1105±0.1239</m:t>
                                </m:r>
                              </m:oMath>
                            </m:oMathPara>
                          </a14:m>
                          <a:endParaRPr lang="en-IL" sz="1600" b="0" i="0" u="none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600" b="0" i="1" u="none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9.1334±0.1387</m:t>
                                </m:r>
                              </m:oMath>
                            </m:oMathPara>
                          </a14:m>
                          <a:endParaRPr lang="en-IL" sz="1600" b="0" i="0" u="none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600" b="0" i="1" u="none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2.6973±0.0513</m:t>
                                </m:r>
                              </m:oMath>
                            </m:oMathPara>
                          </a14:m>
                          <a:endParaRPr lang="en-IL" sz="1600" b="0" i="0" u="none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solidFill>
                          <a:schemeClr val="accent6">
                            <a:lumMod val="40000"/>
                            <a:lumOff val="6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4137858476"/>
                      </a:ext>
                    </a:extLst>
                  </a:tr>
                  <a:tr h="496866"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dirty="0"/>
                            <a:t>NA-32</a:t>
                          </a:r>
                          <a:endParaRPr lang="en-IL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600" b="0" i="1" u="none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0.3857±0.0121</m:t>
                                </m:r>
                              </m:oMath>
                            </m:oMathPara>
                          </a14:m>
                          <a:endParaRPr lang="en-IL" sz="1600" b="0" i="0" u="none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600" b="0" i="1" u="none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0.5814±0.0072</m:t>
                                </m:r>
                              </m:oMath>
                            </m:oMathPara>
                          </a14:m>
                          <a:endParaRPr lang="en-IL" sz="1600" b="0" i="0" u="none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600" b="0" i="1" u="none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0.6973±0.0071</m:t>
                                </m:r>
                              </m:oMath>
                            </m:oMathPara>
                          </a14:m>
                          <a:endParaRPr lang="en-IL" sz="1600" b="0" i="0" u="none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600" b="0" i="0" u="none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0.6952±0.0600</m:t>
                                </m:r>
                              </m:oMath>
                            </m:oMathPara>
                          </a14:m>
                          <a:endParaRPr lang="en-US" sz="1600" b="0" i="0" u="none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600" b="0" i="1" u="none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9.2068±0.1127</m:t>
                                </m:r>
                              </m:oMath>
                            </m:oMathPara>
                          </a14:m>
                          <a:endParaRPr lang="en-IL" sz="1600" b="0" i="0" u="none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600" b="0" i="1" u="none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2.5957±0.0464</m:t>
                                </m:r>
                              </m:oMath>
                            </m:oMathPara>
                          </a14:m>
                          <a:endParaRPr lang="en-IL" sz="1600" b="0" i="0" u="none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940483177"/>
                      </a:ext>
                    </a:extLst>
                  </a:tr>
                </a:tbl>
              </a:graphicData>
            </a:graphic>
          </p:graphicFrame>
        </mc:Choice>
        <mc:Fallback>
          <p:graphicFrame>
            <p:nvGraphicFramePr>
              <p:cNvPr id="4" name="Table 3">
                <a:extLst>
                  <a:ext uri="{FF2B5EF4-FFF2-40B4-BE49-F238E27FC236}">
                    <a16:creationId xmlns:a16="http://schemas.microsoft.com/office/drawing/2014/main" id="{2781273F-C464-4B12-18B8-0F3D382584AF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401192832"/>
                  </p:ext>
                </p:extLst>
              </p:nvPr>
            </p:nvGraphicFramePr>
            <p:xfrm>
              <a:off x="0" y="170121"/>
              <a:ext cx="12191998" cy="5070757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741714">
                      <a:extLst>
                        <a:ext uri="{9D8B030D-6E8A-4147-A177-3AD203B41FA5}">
                          <a16:colId xmlns:a16="http://schemas.microsoft.com/office/drawing/2014/main" val="3095592704"/>
                        </a:ext>
                      </a:extLst>
                    </a:gridCol>
                    <a:gridCol w="1741714">
                      <a:extLst>
                        <a:ext uri="{9D8B030D-6E8A-4147-A177-3AD203B41FA5}">
                          <a16:colId xmlns:a16="http://schemas.microsoft.com/office/drawing/2014/main" val="732741407"/>
                        </a:ext>
                      </a:extLst>
                    </a:gridCol>
                    <a:gridCol w="1741714">
                      <a:extLst>
                        <a:ext uri="{9D8B030D-6E8A-4147-A177-3AD203B41FA5}">
                          <a16:colId xmlns:a16="http://schemas.microsoft.com/office/drawing/2014/main" val="337792108"/>
                        </a:ext>
                      </a:extLst>
                    </a:gridCol>
                    <a:gridCol w="1741714">
                      <a:extLst>
                        <a:ext uri="{9D8B030D-6E8A-4147-A177-3AD203B41FA5}">
                          <a16:colId xmlns:a16="http://schemas.microsoft.com/office/drawing/2014/main" val="2200391211"/>
                        </a:ext>
                      </a:extLst>
                    </a:gridCol>
                    <a:gridCol w="1741714">
                      <a:extLst>
                        <a:ext uri="{9D8B030D-6E8A-4147-A177-3AD203B41FA5}">
                          <a16:colId xmlns:a16="http://schemas.microsoft.com/office/drawing/2014/main" val="2095260363"/>
                        </a:ext>
                      </a:extLst>
                    </a:gridCol>
                    <a:gridCol w="1741714">
                      <a:extLst>
                        <a:ext uri="{9D8B030D-6E8A-4147-A177-3AD203B41FA5}">
                          <a16:colId xmlns:a16="http://schemas.microsoft.com/office/drawing/2014/main" val="2425648250"/>
                        </a:ext>
                      </a:extLst>
                    </a:gridCol>
                    <a:gridCol w="1741714">
                      <a:extLst>
                        <a:ext uri="{9D8B030D-6E8A-4147-A177-3AD203B41FA5}">
                          <a16:colId xmlns:a16="http://schemas.microsoft.com/office/drawing/2014/main" val="3253171664"/>
                        </a:ext>
                      </a:extLst>
                    </a:gridCol>
                  </a:tblGrid>
                  <a:tr h="1592695">
                    <a:tc>
                      <a:txBody>
                        <a:bodyPr/>
                        <a:lstStyle/>
                        <a:p>
                          <a:endParaRPr lang="en-IL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IL"/>
                        </a:p>
                      </a:txBody>
                      <a:tcPr>
                        <a:blipFill>
                          <a:blip r:embed="rId2"/>
                          <a:stretch>
                            <a:fillRect l="-100730" t="-794" r="-502920" b="-21825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IL"/>
                        </a:p>
                      </a:txBody>
                      <a:tcPr>
                        <a:blipFill>
                          <a:blip r:embed="rId2"/>
                          <a:stretch>
                            <a:fillRect l="-200730" t="-794" r="-402920" b="-21825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IL"/>
                        </a:p>
                      </a:txBody>
                      <a:tcPr>
                        <a:blipFill>
                          <a:blip r:embed="rId2"/>
                          <a:stretch>
                            <a:fillRect l="-298551" t="-794" r="-300000" b="-21825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IL"/>
                        </a:p>
                      </a:txBody>
                      <a:tcPr>
                        <a:blipFill>
                          <a:blip r:embed="rId2"/>
                          <a:stretch>
                            <a:fillRect l="-401460" t="-794" r="-202190" b="-21825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IL"/>
                        </a:p>
                      </a:txBody>
                      <a:tcPr>
                        <a:blipFill>
                          <a:blip r:embed="rId2"/>
                          <a:stretch>
                            <a:fillRect l="-501460" t="-794" r="-102190" b="-21825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IL"/>
                        </a:p>
                      </a:txBody>
                      <a:tcPr>
                        <a:blipFill>
                          <a:blip r:embed="rId2"/>
                          <a:stretch>
                            <a:fillRect l="-601460" t="-794" r="-2190" b="-218254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872491175"/>
                      </a:ext>
                    </a:extLst>
                  </a:tr>
                  <a:tr h="496866"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SWA-</a:t>
                          </a:r>
                          <a:r>
                            <a:rPr lang="en-GB" dirty="0"/>
                            <a:t>1</a:t>
                          </a:r>
                          <a:endParaRPr lang="en-IL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IL"/>
                        </a:p>
                      </a:txBody>
                      <a:tcPr>
                        <a:blipFill>
                          <a:blip r:embed="rId2"/>
                          <a:stretch>
                            <a:fillRect l="-100730" t="-325641" r="-502920" b="-60512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IL"/>
                        </a:p>
                      </a:txBody>
                      <a:tcPr>
                        <a:blipFill>
                          <a:blip r:embed="rId2"/>
                          <a:stretch>
                            <a:fillRect l="-200730" t="-325641" r="-402920" b="-60512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IL"/>
                        </a:p>
                      </a:txBody>
                      <a:tcPr>
                        <a:blipFill>
                          <a:blip r:embed="rId2"/>
                          <a:stretch>
                            <a:fillRect l="-298551" t="-325641" r="-300000" b="-60512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IL"/>
                        </a:p>
                      </a:txBody>
                      <a:tcPr>
                        <a:blipFill>
                          <a:blip r:embed="rId2"/>
                          <a:stretch>
                            <a:fillRect l="-401460" t="-325641" r="-202190" b="-60512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IL"/>
                        </a:p>
                      </a:txBody>
                      <a:tcPr>
                        <a:blipFill>
                          <a:blip r:embed="rId2"/>
                          <a:stretch>
                            <a:fillRect l="-501460" t="-325641" r="-102190" b="-60512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IL"/>
                        </a:p>
                      </a:txBody>
                      <a:tcPr>
                        <a:blipFill>
                          <a:blip r:embed="rId2"/>
                          <a:stretch>
                            <a:fillRect l="-601460" t="-325641" r="-2190" b="-605128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606080453"/>
                      </a:ext>
                    </a:extLst>
                  </a:tr>
                  <a:tr h="496866">
                    <a:tc>
                      <a:txBody>
                        <a:bodyPr/>
                        <a:lstStyle/>
                        <a:p>
                          <a:r>
                            <a:rPr lang="en-GB" dirty="0"/>
                            <a:t>SWA-2</a:t>
                          </a:r>
                          <a:endParaRPr lang="en-IL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IL"/>
                        </a:p>
                      </a:txBody>
                      <a:tcPr>
                        <a:blipFill>
                          <a:blip r:embed="rId2"/>
                          <a:stretch>
                            <a:fillRect l="-100730" t="-425641" r="-502920" b="-50512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IL"/>
                        </a:p>
                      </a:txBody>
                      <a:tcPr>
                        <a:blipFill>
                          <a:blip r:embed="rId2"/>
                          <a:stretch>
                            <a:fillRect l="-200730" t="-425641" r="-402920" b="-50512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IL"/>
                        </a:p>
                      </a:txBody>
                      <a:tcPr>
                        <a:blipFill>
                          <a:blip r:embed="rId2"/>
                          <a:stretch>
                            <a:fillRect l="-298551" t="-425641" r="-300000" b="-50512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IL"/>
                        </a:p>
                      </a:txBody>
                      <a:tcPr>
                        <a:blipFill>
                          <a:blip r:embed="rId2"/>
                          <a:stretch>
                            <a:fillRect l="-401460" t="-425641" r="-202190" b="-50512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IL"/>
                        </a:p>
                      </a:txBody>
                      <a:tcPr>
                        <a:blipFill>
                          <a:blip r:embed="rId2"/>
                          <a:stretch>
                            <a:fillRect l="-501460" t="-425641" r="-102190" b="-50512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IL"/>
                        </a:p>
                      </a:txBody>
                      <a:tcPr>
                        <a:blipFill>
                          <a:blip r:embed="rId2"/>
                          <a:stretch>
                            <a:fillRect l="-601460" t="-425641" r="-2190" b="-505128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188114110"/>
                      </a:ext>
                    </a:extLst>
                  </a:tr>
                  <a:tr h="496866"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dirty="0"/>
                            <a:t>SWA-3</a:t>
                          </a:r>
                          <a:endParaRPr lang="en-IL" dirty="0"/>
                        </a:p>
                      </a:txBody>
                      <a:tcPr>
                        <a:solidFill>
                          <a:schemeClr val="accent6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IL"/>
                        </a:p>
                      </a:txBody>
                      <a:tcPr>
                        <a:blipFill>
                          <a:blip r:embed="rId2"/>
                          <a:stretch>
                            <a:fillRect l="-100730" t="-525641" r="-502920" b="-40512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IL"/>
                        </a:p>
                      </a:txBody>
                      <a:tcPr>
                        <a:blipFill>
                          <a:blip r:embed="rId2"/>
                          <a:stretch>
                            <a:fillRect l="-200730" t="-525641" r="-402920" b="-40512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IL"/>
                        </a:p>
                      </a:txBody>
                      <a:tcPr>
                        <a:blipFill>
                          <a:blip r:embed="rId2"/>
                          <a:stretch>
                            <a:fillRect l="-298551" t="-525641" r="-300000" b="-40512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IL"/>
                        </a:p>
                      </a:txBody>
                      <a:tcPr>
                        <a:blipFill>
                          <a:blip r:embed="rId2"/>
                          <a:stretch>
                            <a:fillRect l="-401460" t="-525641" r="-202190" b="-40512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IL"/>
                        </a:p>
                      </a:txBody>
                      <a:tcPr>
                        <a:blipFill>
                          <a:blip r:embed="rId2"/>
                          <a:stretch>
                            <a:fillRect l="-501460" t="-525641" r="-102190" b="-40512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IL"/>
                        </a:p>
                      </a:txBody>
                      <a:tcPr>
                        <a:blipFill>
                          <a:blip r:embed="rId2"/>
                          <a:stretch>
                            <a:fillRect l="-601460" t="-525641" r="-2190" b="-405128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675597904"/>
                      </a:ext>
                    </a:extLst>
                  </a:tr>
                  <a:tr h="496866">
                    <a:tc>
                      <a:txBody>
                        <a:bodyPr/>
                        <a:lstStyle/>
                        <a:p>
                          <a:r>
                            <a:rPr lang="en-GB" dirty="0"/>
                            <a:t>SWA-4</a:t>
                          </a:r>
                          <a:endParaRPr lang="en-IL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IL"/>
                        </a:p>
                      </a:txBody>
                      <a:tcPr>
                        <a:blipFill>
                          <a:blip r:embed="rId2"/>
                          <a:stretch>
                            <a:fillRect l="-100730" t="-625641" r="-502920" b="-30512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IL"/>
                        </a:p>
                      </a:txBody>
                      <a:tcPr>
                        <a:blipFill>
                          <a:blip r:embed="rId2"/>
                          <a:stretch>
                            <a:fillRect l="-200730" t="-625641" r="-402920" b="-30512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IL"/>
                        </a:p>
                      </a:txBody>
                      <a:tcPr>
                        <a:blipFill>
                          <a:blip r:embed="rId2"/>
                          <a:stretch>
                            <a:fillRect l="-298551" t="-625641" r="-300000" b="-30512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IL"/>
                        </a:p>
                      </a:txBody>
                      <a:tcPr>
                        <a:blipFill>
                          <a:blip r:embed="rId2"/>
                          <a:stretch>
                            <a:fillRect l="-401460" t="-625641" r="-202190" b="-30512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IL"/>
                        </a:p>
                      </a:txBody>
                      <a:tcPr>
                        <a:blipFill>
                          <a:blip r:embed="rId2"/>
                          <a:stretch>
                            <a:fillRect l="-501460" t="-625641" r="-102190" b="-30512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IL"/>
                        </a:p>
                      </a:txBody>
                      <a:tcPr>
                        <a:blipFill>
                          <a:blip r:embed="rId2"/>
                          <a:stretch>
                            <a:fillRect l="-601460" t="-625641" r="-2190" b="-305128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381335036"/>
                      </a:ext>
                    </a:extLst>
                  </a:tr>
                  <a:tr h="496866">
                    <a:tc>
                      <a:txBody>
                        <a:bodyPr/>
                        <a:lstStyle/>
                        <a:p>
                          <a:endParaRPr lang="en-IL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IL" sz="1600" b="0" i="0" u="none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IL" sz="1600" b="0" i="0" u="none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IL" sz="1600" b="0" i="0" u="none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 sz="1600" b="0" i="0" u="none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IL" sz="1600" b="0" i="0" u="none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IL" sz="1600" b="0" i="0" u="none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229097935"/>
                      </a:ext>
                    </a:extLst>
                  </a:tr>
                  <a:tr h="496866">
                    <a:tc>
                      <a:txBody>
                        <a:bodyPr/>
                        <a:lstStyle/>
                        <a:p>
                          <a:r>
                            <a:rPr lang="en-GB" dirty="0"/>
                            <a:t>NA-16</a:t>
                          </a:r>
                          <a:endParaRPr lang="en-IL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IL"/>
                        </a:p>
                      </a:txBody>
                      <a:tcPr>
                        <a:blipFill>
                          <a:blip r:embed="rId2"/>
                          <a:stretch>
                            <a:fillRect l="-100730" t="-828205" r="-502920" b="-10256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IL"/>
                        </a:p>
                      </a:txBody>
                      <a:tcPr>
                        <a:blipFill>
                          <a:blip r:embed="rId2"/>
                          <a:stretch>
                            <a:fillRect l="-200730" t="-828205" r="-402920" b="-10256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IL"/>
                        </a:p>
                      </a:txBody>
                      <a:tcPr>
                        <a:blipFill>
                          <a:blip r:embed="rId2"/>
                          <a:stretch>
                            <a:fillRect l="-298551" t="-828205" r="-300000" b="-10256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IL"/>
                        </a:p>
                      </a:txBody>
                      <a:tcPr>
                        <a:blipFill>
                          <a:blip r:embed="rId2"/>
                          <a:stretch>
                            <a:fillRect l="-401460" t="-828205" r="-202190" b="-10256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IL"/>
                        </a:p>
                      </a:txBody>
                      <a:tcPr>
                        <a:blipFill>
                          <a:blip r:embed="rId2"/>
                          <a:stretch>
                            <a:fillRect l="-501460" t="-828205" r="-102190" b="-10256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IL"/>
                        </a:p>
                      </a:txBody>
                      <a:tcPr>
                        <a:blipFill>
                          <a:blip r:embed="rId2"/>
                          <a:stretch>
                            <a:fillRect l="-601460" t="-828205" r="-2190" b="-102564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4137858476"/>
                      </a:ext>
                    </a:extLst>
                  </a:tr>
                  <a:tr h="496866"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dirty="0"/>
                            <a:t>NA-32</a:t>
                          </a:r>
                          <a:endParaRPr lang="en-IL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IL"/>
                        </a:p>
                      </a:txBody>
                      <a:tcPr>
                        <a:blipFill>
                          <a:blip r:embed="rId2"/>
                          <a:stretch>
                            <a:fillRect l="-100730" t="-928205" r="-502920" b="-256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IL"/>
                        </a:p>
                      </a:txBody>
                      <a:tcPr>
                        <a:blipFill>
                          <a:blip r:embed="rId2"/>
                          <a:stretch>
                            <a:fillRect l="-200730" t="-928205" r="-402920" b="-256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IL"/>
                        </a:p>
                      </a:txBody>
                      <a:tcPr>
                        <a:blipFill>
                          <a:blip r:embed="rId2"/>
                          <a:stretch>
                            <a:fillRect l="-298551" t="-928205" r="-300000" b="-256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IL"/>
                        </a:p>
                      </a:txBody>
                      <a:tcPr>
                        <a:blipFill>
                          <a:blip r:embed="rId2"/>
                          <a:stretch>
                            <a:fillRect l="-401460" t="-928205" r="-202190" b="-256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IL"/>
                        </a:p>
                      </a:txBody>
                      <a:tcPr>
                        <a:blipFill>
                          <a:blip r:embed="rId2"/>
                          <a:stretch>
                            <a:fillRect l="-501460" t="-928205" r="-102190" b="-256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IL"/>
                        </a:p>
                      </a:txBody>
                      <a:tcPr>
                        <a:blipFill>
                          <a:blip r:embed="rId2"/>
                          <a:stretch>
                            <a:fillRect l="-601460" t="-928205" r="-2190" b="-2564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940483177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6" name="TextBox 5">
            <a:extLst>
              <a:ext uri="{FF2B5EF4-FFF2-40B4-BE49-F238E27FC236}">
                <a16:creationId xmlns:a16="http://schemas.microsoft.com/office/drawing/2014/main" id="{65BE3EEB-81C9-758A-F28B-3C8D6C497F3A}"/>
              </a:ext>
            </a:extLst>
          </p:cNvPr>
          <p:cNvSpPr txBox="1"/>
          <p:nvPr/>
        </p:nvSpPr>
        <p:spPr>
          <a:xfrm>
            <a:off x="0" y="5380672"/>
            <a:ext cx="4607859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dirty="0"/>
              <a:t>SWA = Sliding Window Attention</a:t>
            </a:r>
          </a:p>
          <a:p>
            <a:r>
              <a:rPr lang="en-GB" dirty="0"/>
              <a:t>1. Window size = 4</a:t>
            </a:r>
          </a:p>
          <a:p>
            <a:r>
              <a:rPr lang="en-GB" dirty="0"/>
              <a:t>2. Window size = 8</a:t>
            </a:r>
          </a:p>
          <a:p>
            <a:r>
              <a:rPr lang="en-GB" dirty="0"/>
              <a:t>3. Window size = 12</a:t>
            </a:r>
          </a:p>
          <a:p>
            <a:r>
              <a:rPr lang="en-GB" dirty="0"/>
              <a:t>4. Window size = 16</a:t>
            </a:r>
            <a:endParaRPr lang="en-IL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00BD4C1-ECFF-E22F-C035-5A786768ACF6}"/>
              </a:ext>
            </a:extLst>
          </p:cNvPr>
          <p:cNvSpPr txBox="1"/>
          <p:nvPr/>
        </p:nvSpPr>
        <p:spPr>
          <a:xfrm>
            <a:off x="4002742" y="5380672"/>
            <a:ext cx="614082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dirty="0"/>
              <a:t>NA = </a:t>
            </a:r>
            <a:r>
              <a:rPr lang="en-US" dirty="0"/>
              <a:t>Neighborhood</a:t>
            </a:r>
            <a:r>
              <a:rPr lang="en-GB" dirty="0"/>
              <a:t> Attention</a:t>
            </a:r>
          </a:p>
        </p:txBody>
      </p:sp>
    </p:spTree>
    <p:extLst>
      <p:ext uri="{BB962C8B-B14F-4D97-AF65-F5344CB8AC3E}">
        <p14:creationId xmlns:p14="http://schemas.microsoft.com/office/powerpoint/2010/main" val="410443959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1DE99FB-5BBC-CAB7-2F2D-4AC005DFCF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4" name="Table 3">
                <a:extLst>
                  <a:ext uri="{FF2B5EF4-FFF2-40B4-BE49-F238E27FC236}">
                    <a16:creationId xmlns:a16="http://schemas.microsoft.com/office/drawing/2014/main" id="{1531B4D8-D75B-C071-2DEE-701DE9F33F61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4268718183"/>
                  </p:ext>
                </p:extLst>
              </p:nvPr>
            </p:nvGraphicFramePr>
            <p:xfrm>
              <a:off x="0" y="170121"/>
              <a:ext cx="12191998" cy="4077025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741714">
                      <a:extLst>
                        <a:ext uri="{9D8B030D-6E8A-4147-A177-3AD203B41FA5}">
                          <a16:colId xmlns:a16="http://schemas.microsoft.com/office/drawing/2014/main" val="3095592704"/>
                        </a:ext>
                      </a:extLst>
                    </a:gridCol>
                    <a:gridCol w="1741714">
                      <a:extLst>
                        <a:ext uri="{9D8B030D-6E8A-4147-A177-3AD203B41FA5}">
                          <a16:colId xmlns:a16="http://schemas.microsoft.com/office/drawing/2014/main" val="732741407"/>
                        </a:ext>
                      </a:extLst>
                    </a:gridCol>
                    <a:gridCol w="1741714">
                      <a:extLst>
                        <a:ext uri="{9D8B030D-6E8A-4147-A177-3AD203B41FA5}">
                          <a16:colId xmlns:a16="http://schemas.microsoft.com/office/drawing/2014/main" val="337792108"/>
                        </a:ext>
                      </a:extLst>
                    </a:gridCol>
                    <a:gridCol w="1741714">
                      <a:extLst>
                        <a:ext uri="{9D8B030D-6E8A-4147-A177-3AD203B41FA5}">
                          <a16:colId xmlns:a16="http://schemas.microsoft.com/office/drawing/2014/main" val="2200391211"/>
                        </a:ext>
                      </a:extLst>
                    </a:gridCol>
                    <a:gridCol w="1741714">
                      <a:extLst>
                        <a:ext uri="{9D8B030D-6E8A-4147-A177-3AD203B41FA5}">
                          <a16:colId xmlns:a16="http://schemas.microsoft.com/office/drawing/2014/main" val="2095260363"/>
                        </a:ext>
                      </a:extLst>
                    </a:gridCol>
                    <a:gridCol w="1741714">
                      <a:extLst>
                        <a:ext uri="{9D8B030D-6E8A-4147-A177-3AD203B41FA5}">
                          <a16:colId xmlns:a16="http://schemas.microsoft.com/office/drawing/2014/main" val="2425648250"/>
                        </a:ext>
                      </a:extLst>
                    </a:gridCol>
                    <a:gridCol w="1741714">
                      <a:extLst>
                        <a:ext uri="{9D8B030D-6E8A-4147-A177-3AD203B41FA5}">
                          <a16:colId xmlns:a16="http://schemas.microsoft.com/office/drawing/2014/main" val="3253171664"/>
                        </a:ext>
                      </a:extLst>
                    </a:gridCol>
                  </a:tblGrid>
                  <a:tr h="1592695">
                    <a:tc>
                      <a:txBody>
                        <a:bodyPr/>
                        <a:lstStyle/>
                        <a:p>
                          <a:endParaRPr lang="en-IL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sz="1600" dirty="0"/>
                            <a:t>R Precision (top 1) </a:t>
                          </a:r>
                          <a14:m>
                            <m:oMath xmlns:m="http://schemas.openxmlformats.org/officeDocument/2006/math">
                              <m:r>
                                <a:rPr lang="en-US" sz="160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↑</m:t>
                              </m:r>
                            </m:oMath>
                          </a14:m>
                          <a:endParaRPr lang="en-IL" sz="16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sz="1600" dirty="0"/>
                            <a:t>R Precision (top 2) </a:t>
                          </a:r>
                          <a14:m>
                            <m:oMath xmlns:m="http://schemas.openxmlformats.org/officeDocument/2006/math">
                              <m:r>
                                <a:rPr lang="en-US" sz="160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↑</m:t>
                              </m:r>
                            </m:oMath>
                          </a14:m>
                          <a:endParaRPr lang="en-IL" sz="16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600" dirty="0"/>
                            <a:t>R Precision (top 3) </a:t>
                          </a:r>
                          <a14:m>
                            <m:oMath xmlns:m="http://schemas.openxmlformats.org/officeDocument/2006/math">
                              <m:r>
                                <a:rPr lang="en-US" sz="160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↑</m:t>
                              </m:r>
                            </m:oMath>
                          </a14:m>
                          <a:endParaRPr lang="en-IL" sz="16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600" dirty="0"/>
                            <a:t>FID </a:t>
                          </a:r>
                          <a14:m>
                            <m:oMath xmlns:m="http://schemas.openxmlformats.org/officeDocument/2006/math">
                              <m:r>
                                <a:rPr lang="en-US" sz="160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↓</m:t>
                              </m:r>
                            </m:oMath>
                          </a14:m>
                          <a:endParaRPr lang="en-IL" sz="16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600" dirty="0"/>
                            <a:t>Diversity </a:t>
                          </a:r>
                          <a14:m>
                            <m:oMath xmlns:m="http://schemas.openxmlformats.org/officeDocument/2006/math">
                              <m:r>
                                <a:rPr lang="en-US" sz="1600" b="1" i="1" smtClean="0">
                                  <a:latin typeface="Cambria Math" panose="02040503050406030204" pitchFamily="18" charset="0"/>
                                </a:rPr>
                                <m:t>→</m:t>
                              </m:r>
                            </m:oMath>
                          </a14:m>
                          <a:endParaRPr lang="en-IL" sz="16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600" dirty="0"/>
                            <a:t>Multimodality </a:t>
                          </a:r>
                          <a14:m>
                            <m:oMath xmlns:m="http://schemas.openxmlformats.org/officeDocument/2006/math">
                              <m:r>
                                <a:rPr lang="en-US" sz="1600" b="1" i="1" smtClean="0">
                                  <a:latin typeface="Cambria Math" panose="02040503050406030204" pitchFamily="18" charset="0"/>
                                </a:rPr>
                                <m:t>↑</m:t>
                              </m:r>
                            </m:oMath>
                          </a14:m>
                          <a:endParaRPr lang="en-IL" sz="1600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872491175"/>
                      </a:ext>
                    </a:extLst>
                  </a:tr>
                  <a:tr h="496866">
                    <a:tc>
                      <a:txBody>
                        <a:bodyPr/>
                        <a:lstStyle/>
                        <a:p>
                          <a:r>
                            <a:rPr lang="en-GB" dirty="0"/>
                            <a:t>SWA-4</a:t>
                          </a:r>
                          <a:endParaRPr lang="en-IL" dirty="0"/>
                        </a:p>
                      </a:txBody>
                      <a:tcPr>
                        <a:solidFill>
                          <a:schemeClr val="accent1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600" b="0" i="1" u="none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0.4057±0.0063</m:t>
                                </m:r>
                              </m:oMath>
                            </m:oMathPara>
                          </a14:m>
                          <a:endParaRPr lang="en-IL" sz="1600" b="0" i="0" u="none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solidFill>
                          <a:schemeClr val="accent1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600" b="0" i="1" u="none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0.6029±0.0070</m:t>
                                </m:r>
                              </m:oMath>
                            </m:oMathPara>
                          </a14:m>
                          <a:endParaRPr lang="en-IL" sz="1600" b="0" i="0" u="none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solidFill>
                          <a:schemeClr val="accent1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600" b="0" i="1" u="none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0.7211±0.0037</m:t>
                                </m:r>
                              </m:oMath>
                            </m:oMathPara>
                          </a14:m>
                          <a:endParaRPr lang="en-US" sz="1600" b="0" i="0" u="none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solidFill>
                          <a:schemeClr val="accent1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600" b="0" i="1" u="none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0.9196±0.1833</m:t>
                                </m:r>
                              </m:oMath>
                            </m:oMathPara>
                          </a14:m>
                          <a:endParaRPr lang="en-IL" sz="1600" b="0" i="0" u="none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solidFill>
                          <a:schemeClr val="accent1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600" b="0" i="1" u="none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9.3885±0.1943</m:t>
                                </m:r>
                              </m:oMath>
                            </m:oMathPara>
                          </a14:m>
                          <a:endParaRPr lang="en-IL" sz="1600" b="0" i="0" u="none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solidFill>
                          <a:schemeClr val="accent1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600" b="0" i="1" u="none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2.4265±0.1204</m:t>
                                </m:r>
                              </m:oMath>
                            </m:oMathPara>
                          </a14:m>
                          <a:endParaRPr lang="en-IL" sz="1600" b="0" i="0" u="none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solidFill>
                          <a:schemeClr val="accent1">
                            <a:lumMod val="20000"/>
                            <a:lumOff val="8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188114110"/>
                      </a:ext>
                    </a:extLst>
                  </a:tr>
                  <a:tr h="496866">
                    <a:tc>
                      <a:txBody>
                        <a:bodyPr/>
                        <a:lstStyle/>
                        <a:p>
                          <a:r>
                            <a:rPr lang="en-US" sz="1800" kern="1200" dirty="0">
                              <a:solidFill>
                                <a:schemeClr val="dk1"/>
                              </a:solidFill>
                              <a:effectLst/>
                              <a:latin typeface="+mn-lt"/>
                              <a:ea typeface="+mn-ea"/>
                              <a:cs typeface="+mn-cs"/>
                            </a:rPr>
                            <a:t>tubelet_p4o0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600" b="0" i="1" u="none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0.4121±0.0158</m:t>
                                </m:r>
                              </m:oMath>
                            </m:oMathPara>
                          </a14:m>
                          <a:endParaRPr lang="en-IL" sz="1600" b="0" i="0" u="none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solidFill>
                          <a:schemeClr val="accent6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600" b="0" i="1" u="none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0.6109±0.0205</m:t>
                                </m:r>
                              </m:oMath>
                            </m:oMathPara>
                          </a14:m>
                          <a:endParaRPr lang="en-IL" sz="1600" b="0" i="0" u="none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solidFill>
                          <a:schemeClr val="accent6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600" b="0" i="1" u="none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0.7240±0.0161</m:t>
                                </m:r>
                              </m:oMath>
                            </m:oMathPara>
                          </a14:m>
                          <a:endParaRPr lang="en-IL" sz="1600" b="0" i="0" u="none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solidFill>
                          <a:schemeClr val="accent6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600" b="0" i="0" u="none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0.6275±0.0840</m:t>
                                </m:r>
                              </m:oMath>
                            </m:oMathPara>
                          </a14:m>
                          <a:endParaRPr lang="en-US" sz="1600" b="0" i="0" u="none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solidFill>
                          <a:schemeClr val="accent6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600" b="0" i="1" u="none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9.5540±0.1772</m:t>
                                </m:r>
                              </m:oMath>
                            </m:oMathPara>
                          </a14:m>
                          <a:endParaRPr lang="en-IL" sz="1600" b="0" i="0" u="none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600" b="0" i="1" u="none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2.2371±0.0495</m:t>
                                </m:r>
                              </m:oMath>
                            </m:oMathPara>
                          </a14:m>
                          <a:endParaRPr lang="en-IL" sz="1600" b="0" i="0" u="none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675597904"/>
                      </a:ext>
                    </a:extLst>
                  </a:tr>
                  <a:tr h="496866"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sz="1800" kern="1200" dirty="0">
                              <a:solidFill>
                                <a:schemeClr val="dk1"/>
                              </a:solidFill>
                              <a:effectLst/>
                              <a:latin typeface="+mn-lt"/>
                              <a:ea typeface="+mn-ea"/>
                              <a:cs typeface="+mn-cs"/>
                            </a:rPr>
                            <a:t>tubelet_p8o4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600" b="0" i="1" u="none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0.4064±0.0112</m:t>
                                </m:r>
                              </m:oMath>
                            </m:oMathPara>
                          </a14:m>
                          <a:endParaRPr lang="en-IL" sz="1600" b="0" i="0" u="none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600" b="0" i="1" u="none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0.6092±0.0089</m:t>
                                </m:r>
                              </m:oMath>
                            </m:oMathPara>
                          </a14:m>
                          <a:endParaRPr lang="en-IL" sz="1600" b="0" i="0" u="none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600" b="0" i="1" u="none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0.7209±0.0054</m:t>
                                </m:r>
                              </m:oMath>
                            </m:oMathPara>
                          </a14:m>
                          <a:endParaRPr lang="en-IL" sz="1600" b="0" i="0" u="none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600" b="0" i="0" u="none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0.8067±0.0866</m:t>
                                </m:r>
                              </m:oMath>
                            </m:oMathPara>
                          </a14:m>
                          <a:endParaRPr lang="en-US" sz="1600" b="0" i="0" u="none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600" b="0" i="1" u="none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9.2741±0.2226</m:t>
                                </m:r>
                              </m:oMath>
                            </m:oMathPara>
                          </a14:m>
                          <a:endParaRPr lang="en-IL" sz="1600" b="0" i="0" u="none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600" b="0" i="1" u="none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2.4800±0.0705</m:t>
                                </m:r>
                              </m:oMath>
                            </m:oMathPara>
                          </a14:m>
                          <a:endParaRPr lang="en-IL" sz="1600" b="0" i="0" u="none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381335036"/>
                      </a:ext>
                    </a:extLst>
                  </a:tr>
                  <a:tr h="496866"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sz="1800" kern="1200" dirty="0">
                              <a:solidFill>
                                <a:schemeClr val="dk1"/>
                              </a:solidFill>
                              <a:effectLst/>
                              <a:latin typeface="+mn-lt"/>
                              <a:ea typeface="+mn-ea"/>
                              <a:cs typeface="+mn-cs"/>
                            </a:rPr>
                            <a:t>convk5s2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600" b="0" i="1" u="none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0.4111±0.0147</m:t>
                                </m:r>
                              </m:oMath>
                            </m:oMathPara>
                          </a14:m>
                          <a:endParaRPr lang="en-IL" sz="1600" b="0" i="0" u="none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600" b="0" i="1" u="none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0.6086±0.0133</m:t>
                                </m:r>
                              </m:oMath>
                            </m:oMathPara>
                          </a14:m>
                          <a:endParaRPr lang="en-IL" sz="1600" b="0" i="0" u="none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600" b="0" i="1" u="none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0.7232±0.0079</m:t>
                                </m:r>
                              </m:oMath>
                            </m:oMathPara>
                          </a14:m>
                          <a:endParaRPr lang="en-US" sz="1600" b="0" i="0" u="none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600" b="0" i="1" u="none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0.9910±0.1098</m:t>
                                </m:r>
                              </m:oMath>
                            </m:oMathPara>
                          </a14:m>
                          <a:endParaRPr lang="en-IL" sz="1600" b="0" i="0" u="none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600" b="0" i="1" u="none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9.2075±0.1155</m:t>
                                </m:r>
                              </m:oMath>
                            </m:oMathPara>
                          </a14:m>
                          <a:endParaRPr lang="en-IL" sz="1600" b="0" i="0" u="none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600" b="0" i="1" u="none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2.4582±0.1058</m:t>
                                </m:r>
                              </m:oMath>
                            </m:oMathPara>
                          </a14:m>
                          <a:endParaRPr lang="en-IL" sz="1600" b="0" i="0" u="none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732461599"/>
                      </a:ext>
                    </a:extLst>
                  </a:tr>
                  <a:tr h="496866"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sz="1800" kern="1200" dirty="0">
                              <a:solidFill>
                                <a:schemeClr val="dk1"/>
                              </a:solidFill>
                              <a:effectLst/>
                              <a:latin typeface="+mn-lt"/>
                              <a:ea typeface="+mn-ea"/>
                              <a:cs typeface="+mn-cs"/>
                            </a:rPr>
                            <a:t>convk7s3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600" b="0" i="1" u="none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0.4062±0.0064</m:t>
                                </m:r>
                              </m:oMath>
                            </m:oMathPara>
                          </a14:m>
                          <a:endParaRPr lang="en-IL" sz="1600" b="0" i="0" u="none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600" b="0" i="1" u="none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0.6041±0.0181</m:t>
                                </m:r>
                              </m:oMath>
                            </m:oMathPara>
                          </a14:m>
                          <a:endParaRPr lang="en-IL" sz="1600" b="0" i="0" u="none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600" b="0" i="1" u="none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0.7166±0.0137</m:t>
                                </m:r>
                              </m:oMath>
                            </m:oMathPara>
                          </a14:m>
                          <a:endParaRPr lang="en-US" sz="1600" b="0" i="0" u="none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600" b="0" i="1" u="none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0.9615±0.1339</m:t>
                                </m:r>
                              </m:oMath>
                            </m:oMathPara>
                          </a14:m>
                          <a:endParaRPr lang="en-IL" sz="1600" b="0" i="0" u="none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600" b="0" i="1" u="none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9.3084±0.1009</m:t>
                                </m:r>
                              </m:oMath>
                            </m:oMathPara>
                          </a14:m>
                          <a:endParaRPr lang="en-IL" sz="1600" b="0" i="0" u="none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600" b="0" i="1" u="none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2.4867±0.1116</m:t>
                                </m:r>
                              </m:oMath>
                            </m:oMathPara>
                          </a14:m>
                          <a:endParaRPr lang="en-IL" sz="1600" b="0" i="0" u="none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solidFill>
                          <a:schemeClr val="accent6">
                            <a:lumMod val="20000"/>
                            <a:lumOff val="8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089474742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4" name="Table 3">
                <a:extLst>
                  <a:ext uri="{FF2B5EF4-FFF2-40B4-BE49-F238E27FC236}">
                    <a16:creationId xmlns:a16="http://schemas.microsoft.com/office/drawing/2014/main" id="{1531B4D8-D75B-C071-2DEE-701DE9F33F61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4268718183"/>
                  </p:ext>
                </p:extLst>
              </p:nvPr>
            </p:nvGraphicFramePr>
            <p:xfrm>
              <a:off x="0" y="170121"/>
              <a:ext cx="12191998" cy="4077025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741714">
                      <a:extLst>
                        <a:ext uri="{9D8B030D-6E8A-4147-A177-3AD203B41FA5}">
                          <a16:colId xmlns:a16="http://schemas.microsoft.com/office/drawing/2014/main" val="3095592704"/>
                        </a:ext>
                      </a:extLst>
                    </a:gridCol>
                    <a:gridCol w="1741714">
                      <a:extLst>
                        <a:ext uri="{9D8B030D-6E8A-4147-A177-3AD203B41FA5}">
                          <a16:colId xmlns:a16="http://schemas.microsoft.com/office/drawing/2014/main" val="732741407"/>
                        </a:ext>
                      </a:extLst>
                    </a:gridCol>
                    <a:gridCol w="1741714">
                      <a:extLst>
                        <a:ext uri="{9D8B030D-6E8A-4147-A177-3AD203B41FA5}">
                          <a16:colId xmlns:a16="http://schemas.microsoft.com/office/drawing/2014/main" val="337792108"/>
                        </a:ext>
                      </a:extLst>
                    </a:gridCol>
                    <a:gridCol w="1741714">
                      <a:extLst>
                        <a:ext uri="{9D8B030D-6E8A-4147-A177-3AD203B41FA5}">
                          <a16:colId xmlns:a16="http://schemas.microsoft.com/office/drawing/2014/main" val="2200391211"/>
                        </a:ext>
                      </a:extLst>
                    </a:gridCol>
                    <a:gridCol w="1741714">
                      <a:extLst>
                        <a:ext uri="{9D8B030D-6E8A-4147-A177-3AD203B41FA5}">
                          <a16:colId xmlns:a16="http://schemas.microsoft.com/office/drawing/2014/main" val="2095260363"/>
                        </a:ext>
                      </a:extLst>
                    </a:gridCol>
                    <a:gridCol w="1741714">
                      <a:extLst>
                        <a:ext uri="{9D8B030D-6E8A-4147-A177-3AD203B41FA5}">
                          <a16:colId xmlns:a16="http://schemas.microsoft.com/office/drawing/2014/main" val="2425648250"/>
                        </a:ext>
                      </a:extLst>
                    </a:gridCol>
                    <a:gridCol w="1741714">
                      <a:extLst>
                        <a:ext uri="{9D8B030D-6E8A-4147-A177-3AD203B41FA5}">
                          <a16:colId xmlns:a16="http://schemas.microsoft.com/office/drawing/2014/main" val="3253171664"/>
                        </a:ext>
                      </a:extLst>
                    </a:gridCol>
                  </a:tblGrid>
                  <a:tr h="1592695">
                    <a:tc>
                      <a:txBody>
                        <a:bodyPr/>
                        <a:lstStyle/>
                        <a:p>
                          <a:endParaRPr lang="en-IL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IL"/>
                        </a:p>
                      </a:txBody>
                      <a:tcPr>
                        <a:blipFill>
                          <a:blip r:embed="rId2"/>
                          <a:stretch>
                            <a:fillRect l="-100730" t="-794" r="-502920" b="-15634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IL"/>
                        </a:p>
                      </a:txBody>
                      <a:tcPr>
                        <a:blipFill>
                          <a:blip r:embed="rId2"/>
                          <a:stretch>
                            <a:fillRect l="-200730" t="-794" r="-402920" b="-15634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IL"/>
                        </a:p>
                      </a:txBody>
                      <a:tcPr>
                        <a:blipFill>
                          <a:blip r:embed="rId2"/>
                          <a:stretch>
                            <a:fillRect l="-298551" t="-794" r="-300000" b="-15634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IL"/>
                        </a:p>
                      </a:txBody>
                      <a:tcPr>
                        <a:blipFill>
                          <a:blip r:embed="rId2"/>
                          <a:stretch>
                            <a:fillRect l="-401460" t="-794" r="-202190" b="-15634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IL"/>
                        </a:p>
                      </a:txBody>
                      <a:tcPr>
                        <a:blipFill>
                          <a:blip r:embed="rId2"/>
                          <a:stretch>
                            <a:fillRect l="-501460" t="-794" r="-102190" b="-15634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IL"/>
                        </a:p>
                      </a:txBody>
                      <a:tcPr>
                        <a:blipFill>
                          <a:blip r:embed="rId2"/>
                          <a:stretch>
                            <a:fillRect l="-601460" t="-794" r="-2190" b="-156349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872491175"/>
                      </a:ext>
                    </a:extLst>
                  </a:tr>
                  <a:tr h="496866">
                    <a:tc>
                      <a:txBody>
                        <a:bodyPr/>
                        <a:lstStyle/>
                        <a:p>
                          <a:r>
                            <a:rPr lang="en-GB" dirty="0"/>
                            <a:t>SWA-4</a:t>
                          </a:r>
                          <a:endParaRPr lang="en-IL" dirty="0"/>
                        </a:p>
                      </a:txBody>
                      <a:tcPr>
                        <a:solidFill>
                          <a:schemeClr val="accent1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IL"/>
                        </a:p>
                      </a:txBody>
                      <a:tcPr>
                        <a:blipFill>
                          <a:blip r:embed="rId2"/>
                          <a:stretch>
                            <a:fillRect l="-100730" t="-325641" r="-502920" b="-40512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IL"/>
                        </a:p>
                      </a:txBody>
                      <a:tcPr>
                        <a:blipFill>
                          <a:blip r:embed="rId2"/>
                          <a:stretch>
                            <a:fillRect l="-200730" t="-325641" r="-402920" b="-40512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IL"/>
                        </a:p>
                      </a:txBody>
                      <a:tcPr>
                        <a:blipFill>
                          <a:blip r:embed="rId2"/>
                          <a:stretch>
                            <a:fillRect l="-298551" t="-325641" r="-300000" b="-40512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IL"/>
                        </a:p>
                      </a:txBody>
                      <a:tcPr>
                        <a:blipFill>
                          <a:blip r:embed="rId2"/>
                          <a:stretch>
                            <a:fillRect l="-401460" t="-325641" r="-202190" b="-40512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IL"/>
                        </a:p>
                      </a:txBody>
                      <a:tcPr>
                        <a:blipFill>
                          <a:blip r:embed="rId2"/>
                          <a:stretch>
                            <a:fillRect l="-501460" t="-325641" r="-102190" b="-40512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IL"/>
                        </a:p>
                      </a:txBody>
                      <a:tcPr>
                        <a:blipFill>
                          <a:blip r:embed="rId2"/>
                          <a:stretch>
                            <a:fillRect l="-601460" t="-325641" r="-2190" b="-405128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188114110"/>
                      </a:ext>
                    </a:extLst>
                  </a:tr>
                  <a:tr h="496866">
                    <a:tc>
                      <a:txBody>
                        <a:bodyPr/>
                        <a:lstStyle/>
                        <a:p>
                          <a:r>
                            <a:rPr lang="en-US" sz="1800" kern="1200" dirty="0">
                              <a:solidFill>
                                <a:schemeClr val="dk1"/>
                              </a:solidFill>
                              <a:effectLst/>
                              <a:latin typeface="+mn-lt"/>
                              <a:ea typeface="+mn-ea"/>
                              <a:cs typeface="+mn-cs"/>
                            </a:rPr>
                            <a:t>tubelet_p4o0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IL"/>
                        </a:p>
                      </a:txBody>
                      <a:tcPr>
                        <a:blipFill>
                          <a:blip r:embed="rId2"/>
                          <a:stretch>
                            <a:fillRect l="-100730" t="-425641" r="-502920" b="-30512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IL"/>
                        </a:p>
                      </a:txBody>
                      <a:tcPr>
                        <a:blipFill>
                          <a:blip r:embed="rId2"/>
                          <a:stretch>
                            <a:fillRect l="-200730" t="-425641" r="-402920" b="-30512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IL"/>
                        </a:p>
                      </a:txBody>
                      <a:tcPr>
                        <a:blipFill>
                          <a:blip r:embed="rId2"/>
                          <a:stretch>
                            <a:fillRect l="-298551" t="-425641" r="-300000" b="-30512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IL"/>
                        </a:p>
                      </a:txBody>
                      <a:tcPr>
                        <a:blipFill>
                          <a:blip r:embed="rId2"/>
                          <a:stretch>
                            <a:fillRect l="-401460" t="-425641" r="-202190" b="-30512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IL"/>
                        </a:p>
                      </a:txBody>
                      <a:tcPr>
                        <a:blipFill>
                          <a:blip r:embed="rId2"/>
                          <a:stretch>
                            <a:fillRect l="-501460" t="-425641" r="-102190" b="-30512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IL"/>
                        </a:p>
                      </a:txBody>
                      <a:tcPr>
                        <a:blipFill>
                          <a:blip r:embed="rId2"/>
                          <a:stretch>
                            <a:fillRect l="-601460" t="-425641" r="-2190" b="-305128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675597904"/>
                      </a:ext>
                    </a:extLst>
                  </a:tr>
                  <a:tr h="496866"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sz="1800" kern="1200" dirty="0">
                              <a:solidFill>
                                <a:schemeClr val="dk1"/>
                              </a:solidFill>
                              <a:effectLst/>
                              <a:latin typeface="+mn-lt"/>
                              <a:ea typeface="+mn-ea"/>
                              <a:cs typeface="+mn-cs"/>
                            </a:rPr>
                            <a:t>tubelet_p8o4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IL"/>
                        </a:p>
                      </a:txBody>
                      <a:tcPr>
                        <a:blipFill>
                          <a:blip r:embed="rId2"/>
                          <a:stretch>
                            <a:fillRect l="-100730" t="-512500" r="-502920" b="-1975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IL"/>
                        </a:p>
                      </a:txBody>
                      <a:tcPr>
                        <a:blipFill>
                          <a:blip r:embed="rId2"/>
                          <a:stretch>
                            <a:fillRect l="-200730" t="-512500" r="-402920" b="-1975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IL"/>
                        </a:p>
                      </a:txBody>
                      <a:tcPr>
                        <a:blipFill>
                          <a:blip r:embed="rId2"/>
                          <a:stretch>
                            <a:fillRect l="-298551" t="-512500" r="-300000" b="-1975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IL"/>
                        </a:p>
                      </a:txBody>
                      <a:tcPr>
                        <a:blipFill>
                          <a:blip r:embed="rId2"/>
                          <a:stretch>
                            <a:fillRect l="-401460" t="-512500" r="-202190" b="-1975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IL"/>
                        </a:p>
                      </a:txBody>
                      <a:tcPr>
                        <a:blipFill>
                          <a:blip r:embed="rId2"/>
                          <a:stretch>
                            <a:fillRect l="-501460" t="-512500" r="-102190" b="-1975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IL"/>
                        </a:p>
                      </a:txBody>
                      <a:tcPr>
                        <a:blipFill>
                          <a:blip r:embed="rId2"/>
                          <a:stretch>
                            <a:fillRect l="-601460" t="-512500" r="-2190" b="-19750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381335036"/>
                      </a:ext>
                    </a:extLst>
                  </a:tr>
                  <a:tr h="496866"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sz="1800" kern="1200" dirty="0">
                              <a:solidFill>
                                <a:schemeClr val="dk1"/>
                              </a:solidFill>
                              <a:effectLst/>
                              <a:latin typeface="+mn-lt"/>
                              <a:ea typeface="+mn-ea"/>
                              <a:cs typeface="+mn-cs"/>
                            </a:rPr>
                            <a:t>convk5s2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IL"/>
                        </a:p>
                      </a:txBody>
                      <a:tcPr>
                        <a:blipFill>
                          <a:blip r:embed="rId2"/>
                          <a:stretch>
                            <a:fillRect l="-100730" t="-628205" r="-502920" b="-10256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IL"/>
                        </a:p>
                      </a:txBody>
                      <a:tcPr>
                        <a:blipFill>
                          <a:blip r:embed="rId2"/>
                          <a:stretch>
                            <a:fillRect l="-200730" t="-628205" r="-402920" b="-10256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IL"/>
                        </a:p>
                      </a:txBody>
                      <a:tcPr>
                        <a:blipFill>
                          <a:blip r:embed="rId2"/>
                          <a:stretch>
                            <a:fillRect l="-298551" t="-628205" r="-300000" b="-10256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IL"/>
                        </a:p>
                      </a:txBody>
                      <a:tcPr>
                        <a:blipFill>
                          <a:blip r:embed="rId2"/>
                          <a:stretch>
                            <a:fillRect l="-401460" t="-628205" r="-202190" b="-10256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IL"/>
                        </a:p>
                      </a:txBody>
                      <a:tcPr>
                        <a:blipFill>
                          <a:blip r:embed="rId2"/>
                          <a:stretch>
                            <a:fillRect l="-501460" t="-628205" r="-102190" b="-10256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IL"/>
                        </a:p>
                      </a:txBody>
                      <a:tcPr>
                        <a:blipFill>
                          <a:blip r:embed="rId2"/>
                          <a:stretch>
                            <a:fillRect l="-601460" t="-628205" r="-2190" b="-102564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732461599"/>
                      </a:ext>
                    </a:extLst>
                  </a:tr>
                  <a:tr h="496866"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sz="1800" kern="1200" dirty="0">
                              <a:solidFill>
                                <a:schemeClr val="dk1"/>
                              </a:solidFill>
                              <a:effectLst/>
                              <a:latin typeface="+mn-lt"/>
                              <a:ea typeface="+mn-ea"/>
                              <a:cs typeface="+mn-cs"/>
                            </a:rPr>
                            <a:t>convk7s3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IL"/>
                        </a:p>
                      </a:txBody>
                      <a:tcPr>
                        <a:blipFill>
                          <a:blip r:embed="rId2"/>
                          <a:stretch>
                            <a:fillRect l="-100730" t="-728205" r="-502920" b="-256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IL"/>
                        </a:p>
                      </a:txBody>
                      <a:tcPr>
                        <a:blipFill>
                          <a:blip r:embed="rId2"/>
                          <a:stretch>
                            <a:fillRect l="-200730" t="-728205" r="-402920" b="-256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IL"/>
                        </a:p>
                      </a:txBody>
                      <a:tcPr>
                        <a:blipFill>
                          <a:blip r:embed="rId2"/>
                          <a:stretch>
                            <a:fillRect l="-298551" t="-728205" r="-300000" b="-256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IL"/>
                        </a:p>
                      </a:txBody>
                      <a:tcPr>
                        <a:blipFill>
                          <a:blip r:embed="rId2"/>
                          <a:stretch>
                            <a:fillRect l="-401460" t="-728205" r="-202190" b="-256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IL"/>
                        </a:p>
                      </a:txBody>
                      <a:tcPr>
                        <a:blipFill>
                          <a:blip r:embed="rId2"/>
                          <a:stretch>
                            <a:fillRect l="-501460" t="-728205" r="-102190" b="-256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IL"/>
                        </a:p>
                      </a:txBody>
                      <a:tcPr>
                        <a:blipFill>
                          <a:blip r:embed="rId2"/>
                          <a:stretch>
                            <a:fillRect l="-601460" t="-728205" r="-2190" b="-2564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089474742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6" name="TextBox 5">
            <a:extLst>
              <a:ext uri="{FF2B5EF4-FFF2-40B4-BE49-F238E27FC236}">
                <a16:creationId xmlns:a16="http://schemas.microsoft.com/office/drawing/2014/main" id="{71E0DD08-A857-5E1F-4216-4FF6E608AF73}"/>
              </a:ext>
            </a:extLst>
          </p:cNvPr>
          <p:cNvSpPr txBox="1"/>
          <p:nvPr/>
        </p:nvSpPr>
        <p:spPr>
          <a:xfrm>
            <a:off x="217306" y="4544356"/>
            <a:ext cx="6119036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dirty="0"/>
              <a:t>Window size = 16</a:t>
            </a:r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50822682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19516</TotalTime>
  <Words>333</Words>
  <Application>Microsoft Macintosh PowerPoint</Application>
  <PresentationFormat>Widescreen</PresentationFormat>
  <Paragraphs>140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8" baseType="lpstr">
      <vt:lpstr>Aptos</vt:lpstr>
      <vt:lpstr>Aptos Display</vt:lpstr>
      <vt:lpstr>Arial</vt:lpstr>
      <vt:lpstr>Cambria Math</vt:lpstr>
      <vt:lpstr>Office Theme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Gil Kizner</dc:creator>
  <cp:lastModifiedBy>Daniel Elgarici</cp:lastModifiedBy>
  <cp:revision>27</cp:revision>
  <dcterms:created xsi:type="dcterms:W3CDTF">2025-08-16T12:02:21Z</dcterms:created>
  <dcterms:modified xsi:type="dcterms:W3CDTF">2025-11-02T17:54:27Z</dcterms:modified>
</cp:coreProperties>
</file>